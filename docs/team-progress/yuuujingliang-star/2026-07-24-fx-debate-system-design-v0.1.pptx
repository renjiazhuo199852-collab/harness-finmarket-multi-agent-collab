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87" d="100"/>
          <a:sy n="87" d="100"/>
        </p:scale>
        <p:origin x="384" y="5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7/22/2026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5760" y="164592"/>
            <a:ext cx="11430000" cy="384048"/>
          </a:xfrm>
          <a:prstGeom prst="rect">
            <a:avLst/>
          </a:prstGeom>
          <a:noFill/>
        </p:spPr>
        <p:txBody>
          <a:bodyPr wrap="none" lIns="73152" tIns="73152" rIns="73152" bIns="73152" anchor="ctr">
            <a:spAutoFit/>
          </a:bodyPr>
          <a:lstStyle/>
          <a:p>
            <a:pPr algn="ctr">
              <a:spcAft>
                <a:spcPts val="0"/>
              </a:spcAft>
              <a:defRPr sz="2500" b="1">
                <a:solidFill>
                  <a:srgbClr val="0B2F5B"/>
                </a:solidFill>
                <a:latin typeface="Microsoft YaHei"/>
              </a:defRPr>
            </a:pPr>
            <a:r>
              <a:t>Vibe-Trading 外汇 Debate 系统设计图（第一版）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45058" y="566928"/>
            <a:ext cx="11064240" cy="256032"/>
          </a:xfrm>
          <a:prstGeom prst="rect">
            <a:avLst/>
          </a:prstGeom>
          <a:noFill/>
        </p:spPr>
        <p:txBody>
          <a:bodyPr wrap="none" lIns="73152" tIns="73152" rIns="73152" bIns="73152" anchor="ctr">
            <a:spAutoFit/>
          </a:bodyPr>
          <a:lstStyle/>
          <a:p>
            <a:pPr algn="ctr">
              <a:spcAft>
                <a:spcPts val="0"/>
              </a:spcAft>
              <a:defRPr sz="1150" b="0">
                <a:solidFill>
                  <a:srgbClr val="5B6573"/>
                </a:solidFill>
                <a:latin typeface="Microsoft YaHei"/>
              </a:defRPr>
            </a:pPr>
            <a:r>
              <a:rPr dirty="0" err="1"/>
              <a:t>自然语言需求</a:t>
            </a:r>
            <a:r>
              <a:rPr dirty="0"/>
              <a:t> → Planner </a:t>
            </a:r>
            <a:r>
              <a:rPr dirty="0" err="1"/>
              <a:t>标准化</a:t>
            </a:r>
            <a:r>
              <a:rPr dirty="0"/>
              <a:t> → SDK / </a:t>
            </a:r>
            <a:r>
              <a:rPr dirty="0" err="1"/>
              <a:t>数据工具</a:t>
            </a:r>
            <a:r>
              <a:rPr dirty="0"/>
              <a:t> → 5-Agent Debate → </a:t>
            </a:r>
            <a:r>
              <a:rPr dirty="0" err="1"/>
              <a:t>结构化报告</a:t>
            </a:r>
            <a:endParaRPr dirty="0"/>
          </a:p>
        </p:txBody>
      </p:sp>
      <p:sp>
        <p:nvSpPr>
          <p:cNvPr id="4" name="Rounded Rectangle 3"/>
          <p:cNvSpPr/>
          <p:nvPr/>
        </p:nvSpPr>
        <p:spPr>
          <a:xfrm>
            <a:off x="228600" y="932688"/>
            <a:ext cx="1298448" cy="310896"/>
          </a:xfrm>
          <a:prstGeom prst="roundRect">
            <a:avLst/>
          </a:prstGeom>
          <a:solidFill>
            <a:srgbClr val="0B2F5B"/>
          </a:solidFill>
          <a:ln w="12700">
            <a:solidFill>
              <a:srgbClr val="0B2F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73152" rIns="73152" bIns="73152" rtlCol="0" anchor="ctr"/>
          <a:lstStyle/>
          <a:p>
            <a:pPr algn="ctr">
              <a:spcAft>
                <a:spcPts val="0"/>
              </a:spcAft>
              <a:defRPr sz="1300" b="1">
                <a:solidFill>
                  <a:srgbClr val="FFFFFF"/>
                </a:solidFill>
                <a:latin typeface="Microsoft YaHei"/>
              </a:defRPr>
            </a:pPr>
            <a:r>
              <a:t>1. 用户层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76479" y="1335023"/>
            <a:ext cx="1367028" cy="5477256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1F5B9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9728" tIns="91440" rIns="109728" bIns="73152" rtlCol="0" anchor="t"/>
          <a:lstStyle/>
          <a:p>
            <a:pPr algn="ctr">
              <a:lnSpc>
                <a:spcPct val="100000"/>
              </a:lnSpc>
              <a:spcAft>
                <a:spcPts val="200"/>
              </a:spcAft>
              <a:defRPr sz="1300" b="1">
                <a:solidFill>
                  <a:srgbClr val="0B2F5B"/>
                </a:solidFill>
                <a:latin typeface="Microsoft YaHei"/>
              </a:defRPr>
            </a:pPr>
            <a:r>
              <a:rPr dirty="0" err="1"/>
              <a:t>自然语言输入</a:t>
            </a:r>
            <a:endParaRPr dirty="0"/>
          </a:p>
          <a:p>
            <a:pPr>
              <a:lnSpc>
                <a:spcPct val="100000"/>
              </a:lnSpc>
              <a:spcAft>
                <a:spcPts val="200"/>
              </a:spcAft>
              <a:defRPr sz="1050" b="0">
                <a:solidFill>
                  <a:srgbClr val="14213D"/>
                </a:solidFill>
                <a:latin typeface="Microsoft YaHei"/>
              </a:defRPr>
            </a:pPr>
            <a:r>
              <a:rPr dirty="0"/>
              <a:t>“</a:t>
            </a:r>
            <a:r>
              <a:rPr dirty="0" err="1"/>
              <a:t>分析欧元兑美元未来两周走势，并给出交易建议</a:t>
            </a:r>
            <a:r>
              <a:rPr dirty="0"/>
              <a:t>”</a:t>
            </a:r>
          </a:p>
          <a:p>
            <a:pPr>
              <a:lnSpc>
                <a:spcPct val="100000"/>
              </a:lnSpc>
              <a:spcAft>
                <a:spcPts val="200"/>
              </a:spcAft>
              <a:defRPr sz="1050" b="0">
                <a:solidFill>
                  <a:srgbClr val="14213D"/>
                </a:solidFill>
                <a:latin typeface="Microsoft YaHei"/>
              </a:defRPr>
            </a:pPr>
            <a:endParaRPr dirty="0"/>
          </a:p>
          <a:p>
            <a:pPr>
              <a:lnSpc>
                <a:spcPct val="100000"/>
              </a:lnSpc>
              <a:spcAft>
                <a:spcPts val="200"/>
              </a:spcAft>
              <a:defRPr sz="1050" b="0">
                <a:solidFill>
                  <a:srgbClr val="14213D"/>
                </a:solidFill>
                <a:latin typeface="Microsoft YaHei"/>
              </a:defRPr>
            </a:pPr>
            <a:r>
              <a:rPr dirty="0"/>
              <a:t>“</a:t>
            </a:r>
            <a:r>
              <a:rPr dirty="0" err="1"/>
              <a:t>让外汇团队讨论一下美日</a:t>
            </a:r>
            <a:r>
              <a:rPr dirty="0"/>
              <a:t>”</a:t>
            </a:r>
          </a:p>
          <a:p>
            <a:pPr>
              <a:lnSpc>
                <a:spcPct val="100000"/>
              </a:lnSpc>
              <a:spcAft>
                <a:spcPts val="200"/>
              </a:spcAft>
              <a:defRPr sz="1050" b="0">
                <a:solidFill>
                  <a:srgbClr val="14213D"/>
                </a:solidFill>
                <a:latin typeface="Microsoft YaHei"/>
              </a:defRPr>
            </a:pPr>
            <a:endParaRPr dirty="0"/>
          </a:p>
          <a:p>
            <a:pPr>
              <a:lnSpc>
                <a:spcPct val="100000"/>
              </a:lnSpc>
              <a:spcAft>
                <a:spcPts val="200"/>
              </a:spcAft>
              <a:defRPr sz="1050" b="0">
                <a:solidFill>
                  <a:srgbClr val="14213D"/>
                </a:solidFill>
                <a:latin typeface="Microsoft YaHei"/>
              </a:defRPr>
            </a:pPr>
            <a:r>
              <a:rPr dirty="0"/>
              <a:t>“</a:t>
            </a:r>
            <a:r>
              <a:rPr dirty="0" err="1"/>
              <a:t>镑美未来一个月应该做多还是做空</a:t>
            </a:r>
            <a:r>
              <a:rPr dirty="0"/>
              <a:t>？”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755648" y="896112"/>
            <a:ext cx="6611112" cy="310896"/>
          </a:xfrm>
          <a:prstGeom prst="roundRect">
            <a:avLst/>
          </a:prstGeom>
          <a:solidFill>
            <a:srgbClr val="0B2F5B"/>
          </a:solidFill>
          <a:ln w="12700">
            <a:solidFill>
              <a:srgbClr val="0B2F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73152" rIns="73152" bIns="73152" rtlCol="0" anchor="ctr"/>
          <a:lstStyle/>
          <a:p>
            <a:pPr algn="ctr">
              <a:spcAft>
                <a:spcPts val="0"/>
              </a:spcAft>
              <a:defRPr sz="1300" b="1">
                <a:solidFill>
                  <a:srgbClr val="FFFFFF"/>
                </a:solidFill>
                <a:latin typeface="Microsoft YaHei"/>
              </a:defRPr>
            </a:pPr>
            <a:r>
              <a:rPr dirty="0"/>
              <a:t>2. Planner </a:t>
            </a:r>
            <a:r>
              <a:rPr dirty="0" err="1"/>
              <a:t>层（梁宇菁主责</a:t>
            </a:r>
            <a:r>
              <a:rPr dirty="0"/>
              <a:t>）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755648" y="1353312"/>
            <a:ext cx="1333195" cy="1874519"/>
          </a:xfrm>
          <a:prstGeom prst="roundRect">
            <a:avLst/>
          </a:prstGeom>
          <a:solidFill>
            <a:srgbClr val="EAF3FF"/>
          </a:solidFill>
          <a:ln w="12700">
            <a:solidFill>
              <a:srgbClr val="1F5B9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9728" tIns="91440" rIns="109728" bIns="73152" rtlCol="0" anchor="t"/>
          <a:lstStyle/>
          <a:p>
            <a:pPr algn="ctr">
              <a:lnSpc>
                <a:spcPct val="100000"/>
              </a:lnSpc>
              <a:spcAft>
                <a:spcPts val="200"/>
              </a:spcAft>
              <a:defRPr sz="1120" b="1">
                <a:solidFill>
                  <a:srgbClr val="0B2F5B"/>
                </a:solidFill>
                <a:latin typeface="Microsoft YaHei"/>
              </a:defRPr>
            </a:pPr>
            <a:r>
              <a:rPr dirty="0"/>
              <a:t>2.1 </a:t>
            </a:r>
            <a:r>
              <a:rPr dirty="0" err="1"/>
              <a:t>路由与意图</a:t>
            </a:r>
            <a:endParaRPr dirty="0"/>
          </a:p>
          <a:p>
            <a:pPr>
              <a:lnSpc>
                <a:spcPct val="100000"/>
              </a:lnSpc>
              <a:spcAft>
                <a:spcPts val="200"/>
              </a:spcAft>
              <a:defRPr sz="930" b="0">
                <a:solidFill>
                  <a:srgbClr val="14213D"/>
                </a:solidFill>
                <a:latin typeface="Microsoft YaHei"/>
              </a:defRPr>
            </a:pPr>
            <a:r>
              <a:rPr dirty="0"/>
              <a:t>context.py</a:t>
            </a:r>
            <a:endParaRPr lang="en-US" dirty="0"/>
          </a:p>
          <a:p>
            <a:pPr>
              <a:lnSpc>
                <a:spcPct val="100000"/>
              </a:lnSpc>
              <a:spcAft>
                <a:spcPts val="200"/>
              </a:spcAft>
              <a:defRPr sz="930" b="0">
                <a:solidFill>
                  <a:srgbClr val="14213D"/>
                </a:solidFill>
                <a:latin typeface="Microsoft YaHei"/>
              </a:defRPr>
            </a:pPr>
            <a:br>
              <a:rPr dirty="0"/>
            </a:br>
            <a:r>
              <a:rPr dirty="0"/>
              <a:t>FX </a:t>
            </a:r>
            <a:r>
              <a:rPr dirty="0" err="1"/>
              <a:t>方向研究</a:t>
            </a:r>
            <a:r>
              <a:rPr dirty="0"/>
              <a:t> / </a:t>
            </a:r>
            <a:r>
              <a:rPr dirty="0" err="1"/>
              <a:t>交易建议</a:t>
            </a:r>
            <a:r>
              <a:rPr lang="en-US" dirty="0"/>
              <a:t> </a:t>
            </a:r>
            <a:r>
              <a:rPr dirty="0"/>
              <a:t> </a:t>
            </a:r>
            <a:r>
              <a:rPr lang="zh-CN" altLang="en-US" dirty="0"/>
              <a:t>→ </a:t>
            </a:r>
            <a:endParaRPr lang="en-US" altLang="zh-CN" dirty="0"/>
          </a:p>
          <a:p>
            <a:pPr>
              <a:lnSpc>
                <a:spcPct val="100000"/>
              </a:lnSpc>
              <a:spcAft>
                <a:spcPts val="200"/>
              </a:spcAft>
              <a:defRPr sz="930" b="0">
                <a:solidFill>
                  <a:srgbClr val="14213D"/>
                </a:solidFill>
                <a:latin typeface="Microsoft YaHei"/>
              </a:defRPr>
            </a:pPr>
            <a:r>
              <a:rPr dirty="0"/>
              <a:t>Debate</a:t>
            </a:r>
            <a:r>
              <a:rPr lang="en-US" dirty="0"/>
              <a:t> </a:t>
            </a:r>
            <a:r>
              <a:rPr dirty="0"/>
              <a:t>→ </a:t>
            </a:r>
            <a:r>
              <a:rPr lang="zh-CN" altLang="en-US" dirty="0"/>
              <a:t>后续</a:t>
            </a:r>
            <a:r>
              <a:rPr dirty="0" err="1"/>
              <a:t>流程</a:t>
            </a:r>
            <a:endParaRPr dirty="0"/>
          </a:p>
        </p:txBody>
      </p:sp>
      <p:sp>
        <p:nvSpPr>
          <p:cNvPr id="9" name="Rounded Rectangle 8"/>
          <p:cNvSpPr/>
          <p:nvPr/>
        </p:nvSpPr>
        <p:spPr>
          <a:xfrm>
            <a:off x="3439058" y="1335024"/>
            <a:ext cx="1333195" cy="1874519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8C4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9728" tIns="91440" rIns="109728" bIns="73152" rtlCol="0" anchor="t"/>
          <a:lstStyle/>
          <a:p>
            <a:pPr algn="ctr">
              <a:lnSpc>
                <a:spcPct val="100000"/>
              </a:lnSpc>
              <a:spcAft>
                <a:spcPts val="200"/>
              </a:spcAft>
              <a:defRPr sz="1120" b="1">
                <a:solidFill>
                  <a:srgbClr val="0B2F5B"/>
                </a:solidFill>
                <a:latin typeface="Microsoft YaHei"/>
              </a:defRPr>
            </a:pPr>
            <a:r>
              <a:rPr dirty="0"/>
              <a:t>2.2 </a:t>
            </a:r>
            <a:r>
              <a:rPr dirty="0" err="1"/>
              <a:t>FxDebate</a:t>
            </a:r>
            <a:endParaRPr lang="en-US" dirty="0"/>
          </a:p>
          <a:p>
            <a:pPr algn="ctr">
              <a:lnSpc>
                <a:spcPct val="100000"/>
              </a:lnSpc>
              <a:spcAft>
                <a:spcPts val="200"/>
              </a:spcAft>
              <a:defRPr sz="1120" b="1">
                <a:solidFill>
                  <a:srgbClr val="0B2F5B"/>
                </a:solidFill>
                <a:latin typeface="Microsoft YaHei"/>
              </a:defRPr>
            </a:pPr>
            <a:r>
              <a:rPr dirty="0"/>
              <a:t>Request</a:t>
            </a:r>
          </a:p>
          <a:p>
            <a:pPr>
              <a:lnSpc>
                <a:spcPct val="100000"/>
              </a:lnSpc>
              <a:spcAft>
                <a:spcPts val="200"/>
              </a:spcAft>
              <a:defRPr sz="930" b="0">
                <a:solidFill>
                  <a:srgbClr val="14213D"/>
                </a:solidFill>
                <a:latin typeface="Microsoft YaHei"/>
              </a:defRPr>
            </a:pPr>
            <a:r>
              <a:rPr dirty="0"/>
              <a:t>主 Agent LLM </a:t>
            </a:r>
            <a:endParaRPr lang="en-US" dirty="0"/>
          </a:p>
          <a:p>
            <a:pPr>
              <a:lnSpc>
                <a:spcPct val="100000"/>
              </a:lnSpc>
              <a:spcAft>
                <a:spcPts val="200"/>
              </a:spcAft>
              <a:defRPr sz="930" b="0">
                <a:solidFill>
                  <a:srgbClr val="14213D"/>
                </a:solidFill>
                <a:latin typeface="Microsoft YaHei"/>
              </a:defRPr>
            </a:pPr>
            <a:r>
              <a:rPr dirty="0" err="1"/>
              <a:t>结构化</a:t>
            </a:r>
            <a:r>
              <a:rPr dirty="0"/>
              <a:t> Tool Call</a:t>
            </a:r>
            <a:br>
              <a:rPr dirty="0"/>
            </a:br>
            <a:r>
              <a:rPr dirty="0"/>
              <a:t>canonical=EURUSD</a:t>
            </a:r>
            <a:br>
              <a:rPr dirty="0"/>
            </a:br>
            <a:r>
              <a:rPr dirty="0"/>
              <a:t>requested=EUR/USD</a:t>
            </a:r>
            <a:br>
              <a:rPr dirty="0"/>
            </a:br>
            <a:r>
              <a:rPr dirty="0"/>
              <a:t>horizon=2 weeks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197217" y="1325880"/>
            <a:ext cx="1333195" cy="1874519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8C4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9728" tIns="91440" rIns="109728" bIns="73152" rtlCol="0" anchor="t"/>
          <a:lstStyle/>
          <a:p>
            <a:pPr algn="ctr">
              <a:lnSpc>
                <a:spcPct val="100000"/>
              </a:lnSpc>
              <a:spcAft>
                <a:spcPts val="200"/>
              </a:spcAft>
              <a:defRPr sz="1120" b="1">
                <a:solidFill>
                  <a:srgbClr val="0B2F5B"/>
                </a:solidFill>
                <a:latin typeface="Microsoft YaHei"/>
              </a:defRPr>
            </a:pPr>
            <a:r>
              <a:rPr dirty="0"/>
              <a:t>2.3</a:t>
            </a:r>
            <a:r>
              <a:rPr lang="en-US" dirty="0"/>
              <a:t> </a:t>
            </a:r>
            <a:r>
              <a:rPr dirty="0" err="1"/>
              <a:t>SwarmTool</a:t>
            </a:r>
            <a:r>
              <a:rPr dirty="0"/>
              <a:t> </a:t>
            </a:r>
            <a:r>
              <a:rPr dirty="0" err="1"/>
              <a:t>校验</a:t>
            </a:r>
            <a:endParaRPr dirty="0"/>
          </a:p>
          <a:p>
            <a:pPr>
              <a:lnSpc>
                <a:spcPct val="100000"/>
              </a:lnSpc>
              <a:spcAft>
                <a:spcPts val="200"/>
              </a:spcAft>
              <a:defRPr sz="930" b="0">
                <a:solidFill>
                  <a:srgbClr val="14213D"/>
                </a:solidFill>
                <a:latin typeface="Microsoft YaHei"/>
              </a:defRPr>
            </a:pPr>
            <a:r>
              <a:rPr dirty="0" err="1"/>
              <a:t>白名单校验</a:t>
            </a:r>
            <a:r>
              <a:rPr dirty="0"/>
              <a:t> + </a:t>
            </a:r>
            <a:r>
              <a:rPr dirty="0" err="1"/>
              <a:t>方向核对</a:t>
            </a:r>
            <a:br>
              <a:rPr dirty="0"/>
            </a:br>
            <a:r>
              <a:rPr dirty="0" err="1"/>
              <a:t>补全</a:t>
            </a:r>
            <a:r>
              <a:rPr dirty="0"/>
              <a:t> display / base / quote</a:t>
            </a:r>
            <a:br>
              <a:rPr dirty="0"/>
            </a:br>
            <a:r>
              <a:rPr dirty="0" err="1"/>
              <a:t>计算</a:t>
            </a:r>
            <a:r>
              <a:rPr dirty="0"/>
              <a:t> inverted / </a:t>
            </a:r>
            <a:r>
              <a:rPr dirty="0" err="1"/>
              <a:t>pair_class</a:t>
            </a:r>
            <a:endParaRPr dirty="0"/>
          </a:p>
        </p:txBody>
      </p:sp>
      <p:sp>
        <p:nvSpPr>
          <p:cNvPr id="11" name="Rounded Rectangle 10"/>
          <p:cNvSpPr/>
          <p:nvPr/>
        </p:nvSpPr>
        <p:spPr>
          <a:xfrm>
            <a:off x="6989898" y="1325880"/>
            <a:ext cx="1376862" cy="1874519"/>
          </a:xfrm>
          <a:prstGeom prst="roundRect">
            <a:avLst/>
          </a:prstGeom>
          <a:solidFill>
            <a:srgbClr val="EAF6EC"/>
          </a:solidFill>
          <a:ln w="1270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9728" tIns="91440" rIns="109728" bIns="73152" rtlCol="0" anchor="t"/>
          <a:lstStyle/>
          <a:p>
            <a:pPr algn="ctr">
              <a:lnSpc>
                <a:spcPct val="100000"/>
              </a:lnSpc>
              <a:spcAft>
                <a:spcPts val="200"/>
              </a:spcAft>
              <a:defRPr sz="1120" b="1">
                <a:solidFill>
                  <a:srgbClr val="2E7D32"/>
                </a:solidFill>
                <a:latin typeface="Microsoft YaHei"/>
              </a:defRPr>
            </a:pPr>
            <a:r>
              <a:rPr dirty="0"/>
              <a:t>2.4 SDK </a:t>
            </a:r>
            <a:r>
              <a:rPr dirty="0" err="1"/>
              <a:t>交接</a:t>
            </a:r>
            <a:endParaRPr dirty="0"/>
          </a:p>
          <a:p>
            <a:pPr>
              <a:lnSpc>
                <a:spcPct val="100000"/>
              </a:lnSpc>
              <a:spcAft>
                <a:spcPts val="200"/>
              </a:spcAft>
              <a:defRPr sz="930" b="0">
                <a:solidFill>
                  <a:srgbClr val="14213D"/>
                </a:solidFill>
                <a:latin typeface="Microsoft YaHei"/>
              </a:defRPr>
            </a:pPr>
            <a:r>
              <a:rPr dirty="0" err="1"/>
              <a:t>只提交</a:t>
            </a:r>
            <a:r>
              <a:rPr dirty="0"/>
              <a:t> canonical </a:t>
            </a:r>
            <a:r>
              <a:rPr dirty="0" err="1"/>
              <a:t>标的</a:t>
            </a:r>
            <a:br>
              <a:rPr dirty="0"/>
            </a:br>
            <a:r>
              <a:rPr dirty="0"/>
              <a:t>SDK </a:t>
            </a:r>
            <a:r>
              <a:rPr dirty="0" err="1"/>
              <a:t>返回</a:t>
            </a:r>
            <a:r>
              <a:rPr dirty="0"/>
              <a:t> </a:t>
            </a:r>
            <a:r>
              <a:rPr dirty="0" err="1"/>
              <a:t>instrument_id</a:t>
            </a:r>
            <a:r>
              <a:rPr dirty="0"/>
              <a:t> 与</a:t>
            </a:r>
            <a:br>
              <a:rPr dirty="0"/>
            </a:br>
            <a:r>
              <a:rPr dirty="0" err="1"/>
              <a:t>provider_symbols</a:t>
            </a:r>
            <a:endParaRPr dirty="0"/>
          </a:p>
        </p:txBody>
      </p:sp>
      <p:sp>
        <p:nvSpPr>
          <p:cNvPr id="12" name="Right Arrow 11"/>
          <p:cNvSpPr/>
          <p:nvPr/>
        </p:nvSpPr>
        <p:spPr>
          <a:xfrm>
            <a:off x="3092274" y="1988820"/>
            <a:ext cx="323925" cy="256032"/>
          </a:xfrm>
          <a:prstGeom prst="rightArrow">
            <a:avLst/>
          </a:prstGeom>
          <a:solidFill>
            <a:srgbClr val="0B2F5B"/>
          </a:solidFill>
          <a:ln>
            <a:solidFill>
              <a:srgbClr val="0B2F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ight Arrow 12"/>
          <p:cNvSpPr/>
          <p:nvPr/>
        </p:nvSpPr>
        <p:spPr>
          <a:xfrm>
            <a:off x="4796941" y="2034538"/>
            <a:ext cx="375588" cy="237745"/>
          </a:xfrm>
          <a:prstGeom prst="rightArrow">
            <a:avLst/>
          </a:prstGeom>
          <a:solidFill>
            <a:srgbClr val="0B2F5B"/>
          </a:solidFill>
          <a:ln>
            <a:solidFill>
              <a:srgbClr val="0B2F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ight Arrow 13"/>
          <p:cNvSpPr/>
          <p:nvPr/>
        </p:nvSpPr>
        <p:spPr>
          <a:xfrm>
            <a:off x="6564702" y="2014422"/>
            <a:ext cx="425196" cy="310896"/>
          </a:xfrm>
          <a:prstGeom prst="rightArrow">
            <a:avLst/>
          </a:prstGeom>
          <a:solidFill>
            <a:srgbClr val="0B2F5B"/>
          </a:solidFill>
          <a:ln>
            <a:solidFill>
              <a:srgbClr val="0B2F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2318918" y="3355847"/>
            <a:ext cx="5074920" cy="658368"/>
          </a:xfrm>
          <a:prstGeom prst="roundRect">
            <a:avLst/>
          </a:prstGeom>
          <a:solidFill>
            <a:srgbClr val="FFF4E1"/>
          </a:solidFill>
          <a:ln w="12700">
            <a:solidFill>
              <a:srgbClr val="C77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9728" tIns="91440" rIns="109728" bIns="73152" rtlCol="0" anchor="t"/>
          <a:lstStyle/>
          <a:p>
            <a:pPr algn="ctr">
              <a:lnSpc>
                <a:spcPct val="100000"/>
              </a:lnSpc>
              <a:spcAft>
                <a:spcPts val="200"/>
              </a:spcAft>
              <a:defRPr sz="1050" b="1">
                <a:solidFill>
                  <a:srgbClr val="C77800"/>
                </a:solidFill>
                <a:latin typeface="Microsoft YaHei"/>
              </a:defRPr>
            </a:pPr>
            <a:r>
              <a:rPr dirty="0" err="1"/>
              <a:t>第一版允许</a:t>
            </a:r>
            <a:r>
              <a:rPr dirty="0"/>
              <a:t> canonical symbols（13 个）</a:t>
            </a:r>
          </a:p>
          <a:p>
            <a:pPr>
              <a:lnSpc>
                <a:spcPct val="100000"/>
              </a:lnSpc>
              <a:spcAft>
                <a:spcPts val="200"/>
              </a:spcAft>
              <a:defRPr sz="880" b="0">
                <a:solidFill>
                  <a:srgbClr val="14213D"/>
                </a:solidFill>
                <a:latin typeface="Microsoft YaHei"/>
              </a:defRPr>
            </a:pPr>
            <a:r>
              <a:rPr dirty="0"/>
              <a:t>EURUSD · GBPUSD · USDJPY · USDCHF · USDCAD · AUDUSD · NZDUSD · EURGBP · EURJPY · GBPJPY · AUDJPY · USDCNY · USDCNH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750161" y="4169663"/>
            <a:ext cx="6611112" cy="310896"/>
          </a:xfrm>
          <a:prstGeom prst="roundRect">
            <a:avLst/>
          </a:prstGeom>
          <a:solidFill>
            <a:srgbClr val="0B2F5B"/>
          </a:solidFill>
          <a:ln w="12700">
            <a:solidFill>
              <a:srgbClr val="0B2F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73152" rIns="73152" bIns="73152" rtlCol="0" anchor="ctr"/>
          <a:lstStyle/>
          <a:p>
            <a:pPr algn="ctr">
              <a:spcAft>
                <a:spcPts val="0"/>
              </a:spcAft>
              <a:defRPr sz="1300" b="1">
                <a:solidFill>
                  <a:srgbClr val="FFFFFF"/>
                </a:solidFill>
                <a:latin typeface="Microsoft YaHei"/>
              </a:defRPr>
            </a:pPr>
            <a:r>
              <a:rPr dirty="0"/>
              <a:t>3. </a:t>
            </a:r>
            <a:r>
              <a:rPr dirty="0" err="1"/>
              <a:t>执行层：FX</a:t>
            </a:r>
            <a:r>
              <a:rPr dirty="0"/>
              <a:t> Debate Swarm（5-Agent DAG）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903091" y="4581144"/>
            <a:ext cx="1627632" cy="804672"/>
          </a:xfrm>
          <a:prstGeom prst="roundRect">
            <a:avLst/>
          </a:prstGeom>
          <a:solidFill>
            <a:srgbClr val="EAF3FF"/>
          </a:solidFill>
          <a:ln w="12700">
            <a:solidFill>
              <a:srgbClr val="1F5B9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9728" tIns="91440" rIns="109728" bIns="73152" rtlCol="0" anchor="t"/>
          <a:lstStyle/>
          <a:p>
            <a:pPr algn="ctr">
              <a:lnSpc>
                <a:spcPct val="100000"/>
              </a:lnSpc>
              <a:spcAft>
                <a:spcPts val="200"/>
              </a:spcAft>
              <a:defRPr sz="1050" b="1">
                <a:solidFill>
                  <a:srgbClr val="1F5B9D"/>
                </a:solidFill>
                <a:latin typeface="Microsoft YaHei"/>
              </a:defRPr>
            </a:pPr>
            <a:r>
              <a:t>1. Pair Bull</a:t>
            </a:r>
          </a:p>
          <a:p>
            <a:pPr>
              <a:lnSpc>
                <a:spcPct val="100000"/>
              </a:lnSpc>
              <a:spcAft>
                <a:spcPts val="200"/>
              </a:spcAft>
              <a:defRPr sz="880" b="0">
                <a:solidFill>
                  <a:srgbClr val="14213D"/>
                </a:solidFill>
                <a:latin typeface="Microsoft YaHei"/>
              </a:defRPr>
            </a:pPr>
            <a:r>
              <a:t>做多基础货币</a:t>
            </a:r>
            <a:br/>
            <a:r>
              <a:t>做空计价货币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686171" y="4581144"/>
            <a:ext cx="1627632" cy="804672"/>
          </a:xfrm>
          <a:prstGeom prst="roundRect">
            <a:avLst/>
          </a:prstGeom>
          <a:solidFill>
            <a:srgbClr val="FDEDEC"/>
          </a:solidFill>
          <a:ln w="12700">
            <a:solidFill>
              <a:srgbClr val="B326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9728" tIns="91440" rIns="109728" bIns="73152" rtlCol="0" anchor="t"/>
          <a:lstStyle/>
          <a:p>
            <a:pPr algn="ctr">
              <a:lnSpc>
                <a:spcPct val="100000"/>
              </a:lnSpc>
              <a:spcAft>
                <a:spcPts val="200"/>
              </a:spcAft>
              <a:defRPr sz="1050" b="1">
                <a:solidFill>
                  <a:srgbClr val="B3261E"/>
                </a:solidFill>
                <a:latin typeface="Microsoft YaHei"/>
              </a:defRPr>
            </a:pPr>
            <a:r>
              <a:t>2. Pair Bear</a:t>
            </a:r>
          </a:p>
          <a:p>
            <a:pPr>
              <a:lnSpc>
                <a:spcPct val="100000"/>
              </a:lnSpc>
              <a:spcAft>
                <a:spcPts val="200"/>
              </a:spcAft>
              <a:defRPr sz="880" b="0">
                <a:solidFill>
                  <a:srgbClr val="14213D"/>
                </a:solidFill>
                <a:latin typeface="Microsoft YaHei"/>
              </a:defRPr>
            </a:pPr>
            <a:r>
              <a:t>做空基础货币</a:t>
            </a:r>
            <a:br/>
            <a:r>
              <a:t>做多计价货币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469251" y="4581144"/>
            <a:ext cx="1874519" cy="804672"/>
          </a:xfrm>
          <a:prstGeom prst="roundRect">
            <a:avLst/>
          </a:prstGeom>
          <a:solidFill>
            <a:srgbClr val="FFF4E1"/>
          </a:solidFill>
          <a:ln w="12700">
            <a:solidFill>
              <a:srgbClr val="C77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9728" tIns="91440" rIns="109728" bIns="73152" rtlCol="0" anchor="t"/>
          <a:lstStyle/>
          <a:p>
            <a:pPr algn="ctr">
              <a:lnSpc>
                <a:spcPct val="100000"/>
              </a:lnSpc>
              <a:spcAft>
                <a:spcPts val="200"/>
              </a:spcAft>
              <a:defRPr sz="1050" b="1">
                <a:solidFill>
                  <a:srgbClr val="C77800"/>
                </a:solidFill>
                <a:latin typeface="Microsoft YaHei"/>
              </a:defRPr>
            </a:pPr>
            <a:r>
              <a:rPr dirty="0"/>
              <a:t>3. Macro &amp; Technical</a:t>
            </a:r>
          </a:p>
          <a:p>
            <a:pPr>
              <a:lnSpc>
                <a:spcPct val="100000"/>
              </a:lnSpc>
              <a:spcAft>
                <a:spcPts val="200"/>
              </a:spcAft>
              <a:defRPr sz="880" b="0">
                <a:solidFill>
                  <a:srgbClr val="14213D"/>
                </a:solidFill>
                <a:latin typeface="Microsoft YaHei"/>
              </a:defRPr>
            </a:pPr>
            <a:r>
              <a:rPr dirty="0" err="1"/>
              <a:t>相对宏观、利率、增长</a:t>
            </a:r>
            <a:r>
              <a:rPr dirty="0"/>
              <a:t>、</a:t>
            </a:r>
            <a:br>
              <a:rPr dirty="0"/>
            </a:br>
            <a:r>
              <a:rPr dirty="0" err="1"/>
              <a:t>通胀、仓位与技术结构</a:t>
            </a:r>
            <a:endParaRPr dirty="0"/>
          </a:p>
        </p:txBody>
      </p:sp>
      <p:sp>
        <p:nvSpPr>
          <p:cNvPr id="20" name="Rounded Rectangle 19"/>
          <p:cNvSpPr/>
          <p:nvPr/>
        </p:nvSpPr>
        <p:spPr>
          <a:xfrm>
            <a:off x="2904359" y="5641848"/>
            <a:ext cx="2148840" cy="877824"/>
          </a:xfrm>
          <a:prstGeom prst="roundRect">
            <a:avLst/>
          </a:prstGeom>
          <a:solidFill>
            <a:srgbClr val="F1EEFF"/>
          </a:solidFill>
          <a:ln w="12700">
            <a:solidFill>
              <a:srgbClr val="5E35B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9728" tIns="91440" rIns="109728" bIns="73152" rtlCol="0" anchor="t"/>
          <a:lstStyle/>
          <a:p>
            <a:pPr algn="ctr">
              <a:lnSpc>
                <a:spcPct val="100000"/>
              </a:lnSpc>
              <a:spcAft>
                <a:spcPts val="200"/>
              </a:spcAft>
              <a:defRPr sz="1019" b="1">
                <a:solidFill>
                  <a:srgbClr val="5E35B1"/>
                </a:solidFill>
                <a:latin typeface="Microsoft YaHei"/>
              </a:defRPr>
            </a:pPr>
            <a:r>
              <a:rPr dirty="0"/>
              <a:t>4. Independent FX Risk Officer</a:t>
            </a:r>
          </a:p>
          <a:p>
            <a:pPr>
              <a:lnSpc>
                <a:spcPct val="100000"/>
              </a:lnSpc>
              <a:spcAft>
                <a:spcPts val="200"/>
              </a:spcAft>
              <a:defRPr sz="869" b="0">
                <a:solidFill>
                  <a:srgbClr val="14213D"/>
                </a:solidFill>
                <a:latin typeface="Microsoft YaHei"/>
              </a:defRPr>
            </a:pPr>
            <a:r>
              <a:rPr dirty="0" err="1"/>
              <a:t>独立审查三份报告；盲点、尾部风险、仓位上限、批准条件</a:t>
            </a:r>
            <a:endParaRPr dirty="0"/>
          </a:p>
        </p:txBody>
      </p:sp>
      <p:sp>
        <p:nvSpPr>
          <p:cNvPr id="21" name="Rounded Rectangle 20"/>
          <p:cNvSpPr/>
          <p:nvPr/>
        </p:nvSpPr>
        <p:spPr>
          <a:xfrm>
            <a:off x="5652131" y="5641848"/>
            <a:ext cx="2250338" cy="877824"/>
          </a:xfrm>
          <a:prstGeom prst="roundRect">
            <a:avLst/>
          </a:prstGeom>
          <a:solidFill>
            <a:srgbClr val="E7F7F8"/>
          </a:solidFill>
          <a:ln w="12700">
            <a:solidFill>
              <a:srgbClr val="007C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9728" tIns="91440" rIns="109728" bIns="73152" rtlCol="0" anchor="t"/>
          <a:lstStyle/>
          <a:p>
            <a:pPr algn="ctr">
              <a:lnSpc>
                <a:spcPct val="100000"/>
              </a:lnSpc>
              <a:spcAft>
                <a:spcPts val="200"/>
              </a:spcAft>
              <a:defRPr sz="1019" b="1">
                <a:solidFill>
                  <a:srgbClr val="007C83"/>
                </a:solidFill>
                <a:latin typeface="Microsoft YaHei"/>
              </a:defRPr>
            </a:pPr>
            <a:r>
              <a:rPr dirty="0"/>
              <a:t>5. Debate Judge / FX PM</a:t>
            </a:r>
          </a:p>
          <a:p>
            <a:pPr>
              <a:lnSpc>
                <a:spcPct val="100000"/>
              </a:lnSpc>
              <a:spcAft>
                <a:spcPts val="200"/>
              </a:spcAft>
              <a:defRPr sz="869" b="0">
                <a:solidFill>
                  <a:srgbClr val="14213D"/>
                </a:solidFill>
                <a:latin typeface="Microsoft YaHei"/>
              </a:defRPr>
            </a:pPr>
            <a:r>
              <a:rPr dirty="0" err="1"/>
              <a:t>综合原始报告与</a:t>
            </a:r>
            <a:r>
              <a:rPr dirty="0"/>
              <a:t> Risk；</a:t>
            </a:r>
            <a:endParaRPr lang="en-US" dirty="0"/>
          </a:p>
          <a:p>
            <a:pPr>
              <a:lnSpc>
                <a:spcPct val="100000"/>
              </a:lnSpc>
              <a:spcAft>
                <a:spcPts val="200"/>
              </a:spcAft>
              <a:defRPr sz="869" b="0">
                <a:solidFill>
                  <a:srgbClr val="14213D"/>
                </a:solidFill>
                <a:latin typeface="Microsoft YaHei"/>
              </a:defRPr>
            </a:pPr>
            <a:r>
              <a:rPr dirty="0" err="1"/>
              <a:t>输出</a:t>
            </a:r>
            <a:r>
              <a:rPr dirty="0"/>
              <a:t> long / short / wait / hedge</a:t>
            </a:r>
          </a:p>
        </p:txBody>
      </p:sp>
      <p:cxnSp>
        <p:nvCxnSpPr>
          <p:cNvPr id="22" name="Connector 21"/>
          <p:cNvCxnSpPr>
            <a:cxnSpLocks/>
          </p:cNvCxnSpPr>
          <p:nvPr/>
        </p:nvCxnSpPr>
        <p:spPr>
          <a:xfrm>
            <a:off x="2716907" y="5385816"/>
            <a:ext cx="1426464" cy="237744"/>
          </a:xfrm>
          <a:prstGeom prst="line">
            <a:avLst/>
          </a:prstGeom>
          <a:ln w="17780">
            <a:solidFill>
              <a:srgbClr val="0B2F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>
            <a:cxnSpLocks/>
          </p:cNvCxnSpPr>
          <p:nvPr/>
        </p:nvCxnSpPr>
        <p:spPr>
          <a:xfrm flipH="1">
            <a:off x="4143371" y="5385816"/>
            <a:ext cx="356616" cy="237744"/>
          </a:xfrm>
          <a:prstGeom prst="line">
            <a:avLst/>
          </a:prstGeom>
          <a:ln w="17780">
            <a:solidFill>
              <a:srgbClr val="0B2F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>
            <a:cxnSpLocks/>
          </p:cNvCxnSpPr>
          <p:nvPr/>
        </p:nvCxnSpPr>
        <p:spPr>
          <a:xfrm flipH="1">
            <a:off x="4143371" y="5385816"/>
            <a:ext cx="2258568" cy="237744"/>
          </a:xfrm>
          <a:prstGeom prst="line">
            <a:avLst/>
          </a:prstGeom>
          <a:ln w="17780">
            <a:solidFill>
              <a:srgbClr val="0B2F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>
            <a:cxnSpLocks/>
          </p:cNvCxnSpPr>
          <p:nvPr/>
        </p:nvCxnSpPr>
        <p:spPr>
          <a:xfrm>
            <a:off x="5134581" y="5998464"/>
            <a:ext cx="393192" cy="0"/>
          </a:xfrm>
          <a:prstGeom prst="line">
            <a:avLst/>
          </a:prstGeom>
          <a:ln w="20320">
            <a:solidFill>
              <a:srgbClr val="0B2F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1042415" y="6647687"/>
            <a:ext cx="6126480" cy="182880"/>
          </a:xfrm>
          <a:prstGeom prst="rect">
            <a:avLst/>
          </a:prstGeom>
          <a:noFill/>
        </p:spPr>
        <p:txBody>
          <a:bodyPr wrap="none" lIns="73152" tIns="73152" rIns="73152" bIns="73152" anchor="ctr">
            <a:spAutoFit/>
          </a:bodyPr>
          <a:lstStyle/>
          <a:p>
            <a:pPr algn="ctr">
              <a:spcAft>
                <a:spcPts val="0"/>
              </a:spcAft>
              <a:defRPr sz="940" b="1">
                <a:solidFill>
                  <a:srgbClr val="0B2F5B"/>
                </a:solidFill>
                <a:latin typeface="Microsoft YaHei"/>
              </a:defRPr>
            </a:pPr>
            <a:r>
              <a:rPr dirty="0" err="1"/>
              <a:t>前三项并行</a:t>
            </a:r>
            <a:r>
              <a:rPr dirty="0"/>
              <a:t> → Risk </a:t>
            </a:r>
            <a:r>
              <a:rPr dirty="0" err="1"/>
              <a:t>等待并读取三份报告</a:t>
            </a:r>
            <a:r>
              <a:rPr dirty="0"/>
              <a:t> → Judge </a:t>
            </a:r>
            <a:r>
              <a:rPr dirty="0" err="1"/>
              <a:t>同时读取原始报告与</a:t>
            </a:r>
            <a:r>
              <a:rPr dirty="0"/>
              <a:t> Risk </a:t>
            </a:r>
            <a:r>
              <a:rPr dirty="0" err="1"/>
              <a:t>报告</a:t>
            </a:r>
            <a:endParaRPr dirty="0"/>
          </a:p>
        </p:txBody>
      </p:sp>
      <p:sp>
        <p:nvSpPr>
          <p:cNvPr id="27" name="Rounded Rectangle 26"/>
          <p:cNvSpPr/>
          <p:nvPr/>
        </p:nvSpPr>
        <p:spPr>
          <a:xfrm>
            <a:off x="8613648" y="932688"/>
            <a:ext cx="3337560" cy="310896"/>
          </a:xfrm>
          <a:prstGeom prst="roundRect">
            <a:avLst/>
          </a:prstGeom>
          <a:solidFill>
            <a:srgbClr val="0B2F5B"/>
          </a:solidFill>
          <a:ln w="12700">
            <a:solidFill>
              <a:srgbClr val="0B2F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73152" rIns="73152" bIns="73152" rtlCol="0" anchor="ctr"/>
          <a:lstStyle/>
          <a:p>
            <a:pPr algn="ctr">
              <a:spcAft>
                <a:spcPts val="0"/>
              </a:spcAft>
              <a:defRPr sz="1300" b="1">
                <a:solidFill>
                  <a:srgbClr val="FFFFFF"/>
                </a:solidFill>
                <a:latin typeface="Microsoft YaHei"/>
              </a:defRPr>
            </a:pPr>
            <a:r>
              <a:t>4. 输出层：最终研究报告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613648" y="1325880"/>
            <a:ext cx="3337560" cy="33558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F5B9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9728" tIns="91440" rIns="109728" bIns="73152" rtlCol="0" anchor="t"/>
          <a:lstStyle/>
          <a:p>
            <a:pPr algn="ctr">
              <a:lnSpc>
                <a:spcPct val="100000"/>
              </a:lnSpc>
              <a:spcAft>
                <a:spcPts val="200"/>
              </a:spcAft>
              <a:defRPr sz="1300" b="1">
                <a:solidFill>
                  <a:srgbClr val="0B2F5B"/>
                </a:solidFill>
                <a:latin typeface="Microsoft YaHei"/>
              </a:defRPr>
            </a:pPr>
            <a:r>
              <a:rPr dirty="0" err="1"/>
              <a:t>结构化决策报告</a:t>
            </a:r>
            <a:endParaRPr dirty="0"/>
          </a:p>
          <a:p>
            <a:pPr>
              <a:lnSpc>
                <a:spcPct val="100000"/>
              </a:lnSpc>
              <a:spcAft>
                <a:spcPts val="200"/>
              </a:spcAft>
              <a:defRPr sz="940" b="0">
                <a:solidFill>
                  <a:srgbClr val="14213D"/>
                </a:solidFill>
                <a:latin typeface="Microsoft YaHei"/>
              </a:defRPr>
            </a:pPr>
            <a:r>
              <a:rPr dirty="0"/>
              <a:t>decision: long | short | wait | hedge</a:t>
            </a:r>
          </a:p>
          <a:p>
            <a:pPr>
              <a:lnSpc>
                <a:spcPct val="100000"/>
              </a:lnSpc>
              <a:spcAft>
                <a:spcPts val="200"/>
              </a:spcAft>
              <a:defRPr sz="940" b="0">
                <a:solidFill>
                  <a:srgbClr val="14213D"/>
                </a:solidFill>
                <a:latin typeface="Microsoft YaHei"/>
              </a:defRPr>
            </a:pPr>
            <a:r>
              <a:rPr dirty="0"/>
              <a:t>confidence / horizon / timeframe</a:t>
            </a:r>
          </a:p>
          <a:p>
            <a:pPr>
              <a:lnSpc>
                <a:spcPct val="100000"/>
              </a:lnSpc>
              <a:spcAft>
                <a:spcPts val="200"/>
              </a:spcAft>
              <a:defRPr sz="940" b="0">
                <a:solidFill>
                  <a:srgbClr val="14213D"/>
                </a:solidFill>
                <a:latin typeface="Microsoft YaHei"/>
              </a:defRPr>
            </a:pPr>
            <a:r>
              <a:rPr dirty="0" err="1"/>
              <a:t>entry_zone</a:t>
            </a:r>
            <a:r>
              <a:rPr dirty="0"/>
              <a:t> / targets / </a:t>
            </a:r>
            <a:r>
              <a:rPr dirty="0" err="1"/>
              <a:t>stop_loss</a:t>
            </a:r>
            <a:endParaRPr dirty="0"/>
          </a:p>
          <a:p>
            <a:pPr>
              <a:lnSpc>
                <a:spcPct val="100000"/>
              </a:lnSpc>
              <a:spcAft>
                <a:spcPts val="200"/>
              </a:spcAft>
              <a:defRPr sz="940" b="0">
                <a:solidFill>
                  <a:srgbClr val="14213D"/>
                </a:solidFill>
                <a:latin typeface="Microsoft YaHei"/>
              </a:defRPr>
            </a:pPr>
            <a:r>
              <a:rPr dirty="0" err="1"/>
              <a:t>invalidation_conditions</a:t>
            </a:r>
            <a:endParaRPr dirty="0"/>
          </a:p>
          <a:p>
            <a:pPr>
              <a:lnSpc>
                <a:spcPct val="100000"/>
              </a:lnSpc>
              <a:spcAft>
                <a:spcPts val="200"/>
              </a:spcAft>
              <a:defRPr sz="940" b="0">
                <a:solidFill>
                  <a:srgbClr val="14213D"/>
                </a:solidFill>
                <a:latin typeface="Microsoft YaHei"/>
              </a:defRPr>
            </a:pPr>
            <a:r>
              <a:rPr dirty="0"/>
              <a:t>bull / bear / </a:t>
            </a:r>
            <a:r>
              <a:rPr dirty="0" err="1"/>
              <a:t>macro_technical</a:t>
            </a:r>
            <a:r>
              <a:rPr dirty="0"/>
              <a:t> summary</a:t>
            </a:r>
          </a:p>
          <a:p>
            <a:pPr>
              <a:lnSpc>
                <a:spcPct val="100000"/>
              </a:lnSpc>
              <a:spcAft>
                <a:spcPts val="200"/>
              </a:spcAft>
              <a:defRPr sz="940" b="0">
                <a:solidFill>
                  <a:srgbClr val="14213D"/>
                </a:solidFill>
                <a:latin typeface="Microsoft YaHei"/>
              </a:defRPr>
            </a:pPr>
            <a:r>
              <a:rPr dirty="0" err="1"/>
              <a:t>risk_assessment</a:t>
            </a:r>
            <a:endParaRPr dirty="0"/>
          </a:p>
          <a:p>
            <a:pPr>
              <a:lnSpc>
                <a:spcPct val="100000"/>
              </a:lnSpc>
              <a:spcAft>
                <a:spcPts val="200"/>
              </a:spcAft>
              <a:defRPr sz="940" b="0">
                <a:solidFill>
                  <a:srgbClr val="14213D"/>
                </a:solidFill>
                <a:latin typeface="Microsoft YaHei"/>
              </a:defRPr>
            </a:pPr>
            <a:r>
              <a:rPr dirty="0" err="1"/>
              <a:t>evidence_as_of</a:t>
            </a:r>
            <a:r>
              <a:rPr dirty="0"/>
              <a:t> / </a:t>
            </a:r>
            <a:r>
              <a:rPr dirty="0" err="1"/>
              <a:t>missing_data</a:t>
            </a:r>
            <a:endParaRPr dirty="0"/>
          </a:p>
          <a:p>
            <a:pPr>
              <a:lnSpc>
                <a:spcPct val="100000"/>
              </a:lnSpc>
              <a:spcAft>
                <a:spcPts val="200"/>
              </a:spcAft>
              <a:defRPr sz="940" b="0">
                <a:solidFill>
                  <a:srgbClr val="14213D"/>
                </a:solidFill>
                <a:latin typeface="Microsoft YaHei"/>
              </a:defRPr>
            </a:pPr>
            <a:r>
              <a:rPr dirty="0" err="1"/>
              <a:t>next_review_trigger</a:t>
            </a:r>
            <a:endParaRPr dirty="0"/>
          </a:p>
          <a:p>
            <a:pPr>
              <a:lnSpc>
                <a:spcPct val="100000"/>
              </a:lnSpc>
              <a:spcAft>
                <a:spcPts val="200"/>
              </a:spcAft>
              <a:defRPr sz="940" b="0">
                <a:solidFill>
                  <a:srgbClr val="14213D"/>
                </a:solidFill>
                <a:latin typeface="Microsoft YaHei"/>
              </a:defRPr>
            </a:pPr>
            <a:endParaRPr dirty="0"/>
          </a:p>
          <a:p>
            <a:pPr>
              <a:lnSpc>
                <a:spcPct val="100000"/>
              </a:lnSpc>
              <a:spcAft>
                <a:spcPts val="200"/>
              </a:spcAft>
              <a:defRPr sz="1050" b="1">
                <a:solidFill>
                  <a:srgbClr val="B3261E"/>
                </a:solidFill>
                <a:latin typeface="Microsoft YaHei"/>
              </a:defRPr>
            </a:pPr>
            <a:r>
              <a:rPr dirty="0" err="1"/>
              <a:t>方向约定</a:t>
            </a:r>
            <a:endParaRPr dirty="0"/>
          </a:p>
          <a:p>
            <a:pPr>
              <a:lnSpc>
                <a:spcPct val="100000"/>
              </a:lnSpc>
              <a:spcAft>
                <a:spcPts val="200"/>
              </a:spcAft>
              <a:defRPr sz="940" b="0">
                <a:solidFill>
                  <a:srgbClr val="14213D"/>
                </a:solidFill>
                <a:latin typeface="Microsoft YaHei"/>
              </a:defRPr>
            </a:pPr>
            <a:r>
              <a:rPr dirty="0"/>
              <a:t>long EURUSD = </a:t>
            </a:r>
            <a:r>
              <a:rPr dirty="0" err="1"/>
              <a:t>做多</a:t>
            </a:r>
            <a:r>
              <a:rPr dirty="0"/>
              <a:t> </a:t>
            </a:r>
            <a:r>
              <a:rPr dirty="0" err="1"/>
              <a:t>EUR、做空</a:t>
            </a:r>
            <a:r>
              <a:rPr dirty="0"/>
              <a:t> </a:t>
            </a:r>
            <a:r>
              <a:rPr dirty="0" err="1"/>
              <a:t>USD；反向输入由</a:t>
            </a:r>
            <a:r>
              <a:rPr dirty="0"/>
              <a:t> inverted </a:t>
            </a:r>
            <a:r>
              <a:rPr dirty="0" err="1"/>
              <a:t>在展示层转换</a:t>
            </a:r>
            <a:r>
              <a:rPr dirty="0"/>
              <a:t>。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526780" y="4910327"/>
            <a:ext cx="3337560" cy="310896"/>
          </a:xfrm>
          <a:prstGeom prst="roundRect">
            <a:avLst/>
          </a:prstGeom>
          <a:solidFill>
            <a:srgbClr val="0B2F5B"/>
          </a:solidFill>
          <a:ln w="12700">
            <a:solidFill>
              <a:srgbClr val="0B2F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73152" rIns="73152" bIns="73152" rtlCol="0" anchor="ctr"/>
          <a:lstStyle/>
          <a:p>
            <a:pPr algn="ctr">
              <a:spcAft>
                <a:spcPts val="0"/>
              </a:spcAft>
              <a:defRPr sz="1300" b="1">
                <a:solidFill>
                  <a:srgbClr val="FFFFFF"/>
                </a:solidFill>
                <a:latin typeface="Microsoft YaHei"/>
              </a:defRPr>
            </a:pPr>
            <a:r>
              <a:t>5. 支撑层 / 协作边界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361274" y="5349240"/>
            <a:ext cx="1704442" cy="612647"/>
          </a:xfrm>
          <a:prstGeom prst="roundRect">
            <a:avLst/>
          </a:prstGeom>
          <a:solidFill>
            <a:srgbClr val="F2F4F7"/>
          </a:solidFill>
          <a:ln w="12700">
            <a:solidFill>
              <a:srgbClr val="B8C4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73152" rIns="73152" bIns="73152" rtlCol="0" anchor="ctr"/>
          <a:lstStyle/>
          <a:p>
            <a:pPr algn="ctr">
              <a:spcAft>
                <a:spcPts val="0"/>
              </a:spcAft>
              <a:defRPr sz="740" b="0">
                <a:solidFill>
                  <a:srgbClr val="14213D"/>
                </a:solidFill>
                <a:latin typeface="Microsoft YaHei"/>
              </a:defRPr>
            </a:pPr>
            <a:r>
              <a:t>SDK / Resolver｜canonical → instrument / provider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8366760" y="6062471"/>
            <a:ext cx="1760220" cy="585215"/>
          </a:xfrm>
          <a:prstGeom prst="roundRect">
            <a:avLst/>
          </a:prstGeom>
          <a:solidFill>
            <a:srgbClr val="F2F4F7"/>
          </a:solidFill>
          <a:ln w="12700">
            <a:solidFill>
              <a:srgbClr val="B8C4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73152" rIns="73152" bIns="73152" rtlCol="0" anchor="ctr"/>
          <a:lstStyle/>
          <a:p>
            <a:pPr algn="ctr">
              <a:spcAft>
                <a:spcPts val="0"/>
              </a:spcAft>
              <a:defRPr sz="740" b="0">
                <a:solidFill>
                  <a:srgbClr val="14213D"/>
                </a:solidFill>
                <a:latin typeface="Microsoft YaHei"/>
              </a:defRPr>
            </a:pPr>
            <a:r>
              <a:rPr dirty="0" err="1"/>
              <a:t>数据库｜snapshot</a:t>
            </a:r>
            <a:r>
              <a:rPr dirty="0"/>
              <a:t> / Agent </a:t>
            </a:r>
            <a:r>
              <a:rPr dirty="0" err="1"/>
              <a:t>输出</a:t>
            </a:r>
            <a:r>
              <a:rPr dirty="0"/>
              <a:t> / </a:t>
            </a:r>
            <a:r>
              <a:rPr dirty="0" err="1"/>
              <a:t>建议</a:t>
            </a:r>
            <a:endParaRPr dirty="0"/>
          </a:p>
        </p:txBody>
      </p:sp>
      <p:sp>
        <p:nvSpPr>
          <p:cNvPr id="34" name="Rounded Rectangle 33"/>
          <p:cNvSpPr/>
          <p:nvPr/>
        </p:nvSpPr>
        <p:spPr>
          <a:xfrm>
            <a:off x="10351008" y="6062472"/>
            <a:ext cx="1600200" cy="585214"/>
          </a:xfrm>
          <a:prstGeom prst="roundRect">
            <a:avLst/>
          </a:prstGeom>
          <a:solidFill>
            <a:srgbClr val="F2F4F7"/>
          </a:solidFill>
          <a:ln w="12700">
            <a:solidFill>
              <a:srgbClr val="B8C4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73152" rIns="73152" bIns="73152" rtlCol="0" anchor="ctr"/>
          <a:lstStyle/>
          <a:p>
            <a:pPr algn="ctr">
              <a:spcAft>
                <a:spcPts val="0"/>
              </a:spcAft>
              <a:defRPr sz="740" b="0">
                <a:solidFill>
                  <a:srgbClr val="14213D"/>
                </a:solidFill>
                <a:latin typeface="Microsoft YaHei"/>
              </a:defRPr>
            </a:pPr>
            <a:r>
              <a:rPr dirty="0"/>
              <a:t>Git </a:t>
            </a:r>
            <a:r>
              <a:rPr dirty="0" err="1"/>
              <a:t>管理｜分支</a:t>
            </a:r>
            <a:r>
              <a:rPr dirty="0"/>
              <a:t> / PR / </a:t>
            </a:r>
            <a:r>
              <a:rPr dirty="0" err="1"/>
              <a:t>冲突协调</a:t>
            </a:r>
            <a:endParaRPr dirty="0"/>
          </a:p>
        </p:txBody>
      </p:sp>
      <p:sp>
        <p:nvSpPr>
          <p:cNvPr id="40" name="Rounded Rectangle 33">
            <a:extLst>
              <a:ext uri="{FF2B5EF4-FFF2-40B4-BE49-F238E27FC236}">
                <a16:creationId xmlns:a16="http://schemas.microsoft.com/office/drawing/2014/main" id="{76AE708F-430B-E330-09BE-BF4C5B0C9A28}"/>
              </a:ext>
            </a:extLst>
          </p:cNvPr>
          <p:cNvSpPr/>
          <p:nvPr/>
        </p:nvSpPr>
        <p:spPr>
          <a:xfrm>
            <a:off x="10351008" y="5349241"/>
            <a:ext cx="1600200" cy="585214"/>
          </a:xfrm>
          <a:prstGeom prst="roundRect">
            <a:avLst/>
          </a:prstGeom>
          <a:solidFill>
            <a:srgbClr val="F2F4F7"/>
          </a:solidFill>
          <a:ln w="12700">
            <a:solidFill>
              <a:srgbClr val="B8C4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73152" rIns="73152" bIns="73152" rtlCol="0" anchor="ctr"/>
          <a:lstStyle/>
          <a:p>
            <a:pPr algn="ctr"/>
            <a:r>
              <a:rPr lang="zh-CN" altLang="en-US" sz="740" dirty="0">
                <a:solidFill>
                  <a:srgbClr val="14213D"/>
                </a:solidFill>
                <a:latin typeface="Microsoft YaHei"/>
              </a:rPr>
              <a:t>数据与 </a:t>
            </a:r>
            <a:r>
              <a:rPr lang="en-US" altLang="zh-CN" sz="740" dirty="0">
                <a:solidFill>
                  <a:srgbClr val="14213D"/>
                </a:solidFill>
                <a:latin typeface="Microsoft YaHei"/>
              </a:rPr>
              <a:t>Tools</a:t>
            </a:r>
            <a:r>
              <a:rPr lang="zh-CN" altLang="en-US" sz="740" dirty="0">
                <a:solidFill>
                  <a:srgbClr val="14213D"/>
                </a:solidFill>
                <a:latin typeface="Microsoft YaHei"/>
              </a:rPr>
              <a:t>｜行情、宏观、新闻、指标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440510" y="76674"/>
            <a:ext cx="2755818" cy="532453"/>
          </a:xfrm>
          <a:prstGeom prst="rect">
            <a:avLst/>
          </a:prstGeom>
          <a:noFill/>
        </p:spPr>
        <p:txBody>
          <a:bodyPr wrap="none" lIns="73152" tIns="73152" rIns="73152" bIns="73152" anchor="ctr">
            <a:spAutoFit/>
          </a:bodyPr>
          <a:lstStyle/>
          <a:p>
            <a:pPr algn="ctr">
              <a:spcAft>
                <a:spcPts val="0"/>
              </a:spcAft>
              <a:defRPr sz="2500" b="1">
                <a:solidFill>
                  <a:srgbClr val="0B2F5B"/>
                </a:solidFill>
                <a:latin typeface="Microsoft YaHei"/>
              </a:defRPr>
            </a:pPr>
            <a:r>
              <a:rPr dirty="0"/>
              <a:t>Planner </a:t>
            </a:r>
            <a:r>
              <a:rPr dirty="0" err="1"/>
              <a:t>输入输出</a:t>
            </a:r>
            <a:endParaRPr dirty="0"/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64240" cy="256032"/>
          </a:xfrm>
          <a:prstGeom prst="rect">
            <a:avLst/>
          </a:prstGeom>
          <a:noFill/>
        </p:spPr>
        <p:txBody>
          <a:bodyPr wrap="none" lIns="73152" tIns="73152" rIns="73152" bIns="73152" anchor="ctr">
            <a:spAutoFit/>
          </a:bodyPr>
          <a:lstStyle/>
          <a:p>
            <a:pPr algn="ctr">
              <a:spcAft>
                <a:spcPts val="0"/>
              </a:spcAft>
              <a:defRPr sz="1150" b="0">
                <a:solidFill>
                  <a:srgbClr val="5B6573"/>
                </a:solidFill>
                <a:latin typeface="Microsoft YaHei"/>
              </a:defRPr>
            </a:pPr>
            <a:r>
              <a:rPr dirty="0" err="1"/>
              <a:t>候选解析与可信执行上下文分层，避免把</a:t>
            </a:r>
            <a:r>
              <a:rPr dirty="0"/>
              <a:t> LLM </a:t>
            </a:r>
            <a:r>
              <a:rPr dirty="0" err="1"/>
              <a:t>输出直接当成事实</a:t>
            </a:r>
            <a:endParaRPr dirty="0"/>
          </a:p>
        </p:txBody>
      </p:sp>
      <p:sp>
        <p:nvSpPr>
          <p:cNvPr id="4" name="Rounded Rectangle 3"/>
          <p:cNvSpPr/>
          <p:nvPr/>
        </p:nvSpPr>
        <p:spPr>
          <a:xfrm>
            <a:off x="256032" y="822960"/>
            <a:ext cx="1938527" cy="420624"/>
          </a:xfrm>
          <a:prstGeom prst="roundRect">
            <a:avLst/>
          </a:prstGeom>
          <a:solidFill>
            <a:srgbClr val="0B2F5B"/>
          </a:solidFill>
          <a:ln w="12700">
            <a:solidFill>
              <a:srgbClr val="0B2F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73152" rIns="73152" bIns="73152" rtlCol="0" anchor="ctr"/>
          <a:lstStyle/>
          <a:p>
            <a:pPr algn="ctr">
              <a:spcAft>
                <a:spcPts val="0"/>
              </a:spcAft>
              <a:defRPr sz="1300" b="1">
                <a:solidFill>
                  <a:srgbClr val="FFFFFF"/>
                </a:solidFill>
                <a:latin typeface="Microsoft YaHei"/>
              </a:defRPr>
            </a:pPr>
            <a:r>
              <a:t>A. 用户原始输入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20040" y="1325880"/>
            <a:ext cx="1874519" cy="233172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1F5B9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9728" tIns="91440" rIns="109728" bIns="73152" rtlCol="0" anchor="t"/>
          <a:lstStyle/>
          <a:p>
            <a:pPr algn="ctr">
              <a:lnSpc>
                <a:spcPct val="100000"/>
              </a:lnSpc>
              <a:spcAft>
                <a:spcPts val="200"/>
              </a:spcAft>
              <a:defRPr sz="1300" b="1">
                <a:solidFill>
                  <a:srgbClr val="0B2F5B"/>
                </a:solidFill>
                <a:latin typeface="Microsoft YaHei"/>
              </a:defRPr>
            </a:pPr>
            <a:r>
              <a:t>自然语言</a:t>
            </a:r>
          </a:p>
          <a:p>
            <a:pPr>
              <a:lnSpc>
                <a:spcPct val="100000"/>
              </a:lnSpc>
              <a:spcAft>
                <a:spcPts val="200"/>
              </a:spcAft>
              <a:defRPr sz="1000" b="0">
                <a:solidFill>
                  <a:srgbClr val="14213D"/>
                </a:solidFill>
                <a:latin typeface="Microsoft YaHei"/>
              </a:defRPr>
            </a:pPr>
            <a:r>
              <a:t>“分析欧元兑美元未来两周走势并给出交易建议”</a:t>
            </a:r>
          </a:p>
          <a:p>
            <a:pPr>
              <a:lnSpc>
                <a:spcPct val="100000"/>
              </a:lnSpc>
              <a:spcAft>
                <a:spcPts val="200"/>
              </a:spcAft>
              <a:defRPr sz="1000" b="0">
                <a:solidFill>
                  <a:srgbClr val="14213D"/>
                </a:solidFill>
                <a:latin typeface="Microsoft YaHei"/>
              </a:defRPr>
            </a:pPr>
            <a:endParaRPr/>
          </a:p>
          <a:p>
            <a:pPr>
              <a:lnSpc>
                <a:spcPct val="100000"/>
              </a:lnSpc>
              <a:spcAft>
                <a:spcPts val="200"/>
              </a:spcAft>
              <a:defRPr sz="1000" b="0">
                <a:solidFill>
                  <a:srgbClr val="14213D"/>
                </a:solidFill>
                <a:latin typeface="Microsoft YaHei"/>
              </a:defRPr>
            </a:pPr>
            <a:r>
              <a:t>可能包含：</a:t>
            </a:r>
          </a:p>
          <a:p>
            <a:pPr>
              <a:lnSpc>
                <a:spcPct val="100000"/>
              </a:lnSpc>
              <a:spcAft>
                <a:spcPts val="200"/>
              </a:spcAft>
              <a:defRPr sz="1000" b="0">
                <a:solidFill>
                  <a:srgbClr val="14213D"/>
                </a:solidFill>
                <a:latin typeface="Microsoft YaHei"/>
              </a:defRPr>
            </a:pPr>
            <a:r>
              <a:t>• 货币对</a:t>
            </a:r>
          </a:p>
          <a:p>
            <a:pPr>
              <a:lnSpc>
                <a:spcPct val="100000"/>
              </a:lnSpc>
              <a:spcAft>
                <a:spcPts val="200"/>
              </a:spcAft>
              <a:defRPr sz="1000" b="0">
                <a:solidFill>
                  <a:srgbClr val="14213D"/>
                </a:solidFill>
                <a:latin typeface="Microsoft YaHei"/>
              </a:defRPr>
            </a:pPr>
            <a:r>
              <a:t>• 方向意图</a:t>
            </a:r>
          </a:p>
          <a:p>
            <a:pPr>
              <a:lnSpc>
                <a:spcPct val="100000"/>
              </a:lnSpc>
              <a:spcAft>
                <a:spcPts val="200"/>
              </a:spcAft>
              <a:defRPr sz="1000" b="0">
                <a:solidFill>
                  <a:srgbClr val="14213D"/>
                </a:solidFill>
                <a:latin typeface="Microsoft YaHei"/>
              </a:defRPr>
            </a:pPr>
            <a:r>
              <a:t>• 研究期限</a:t>
            </a:r>
          </a:p>
          <a:p>
            <a:pPr>
              <a:lnSpc>
                <a:spcPct val="100000"/>
              </a:lnSpc>
              <a:spcAft>
                <a:spcPts val="200"/>
              </a:spcAft>
              <a:defRPr sz="1000" b="0">
                <a:solidFill>
                  <a:srgbClr val="14213D"/>
                </a:solidFill>
                <a:latin typeface="Microsoft YaHei"/>
              </a:defRPr>
            </a:pPr>
            <a:r>
              <a:t>• 技术周期</a:t>
            </a:r>
          </a:p>
        </p:txBody>
      </p:sp>
      <p:sp>
        <p:nvSpPr>
          <p:cNvPr id="6" name="Right Arrow 5"/>
          <p:cNvSpPr/>
          <p:nvPr/>
        </p:nvSpPr>
        <p:spPr>
          <a:xfrm>
            <a:off x="2258568" y="2240280"/>
            <a:ext cx="329184" cy="347472"/>
          </a:xfrm>
          <a:prstGeom prst="rightArrow">
            <a:avLst/>
          </a:prstGeom>
          <a:solidFill>
            <a:srgbClr val="0B2F5B"/>
          </a:solidFill>
          <a:ln>
            <a:solidFill>
              <a:srgbClr val="0B2F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2587752" y="822960"/>
            <a:ext cx="2807208" cy="420624"/>
          </a:xfrm>
          <a:prstGeom prst="roundRect">
            <a:avLst/>
          </a:prstGeom>
          <a:solidFill>
            <a:srgbClr val="0B2F5B"/>
          </a:solidFill>
          <a:ln w="12700">
            <a:solidFill>
              <a:srgbClr val="0B2F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73152" rIns="73152" bIns="73152" rtlCol="0" anchor="ctr"/>
          <a:lstStyle/>
          <a:p>
            <a:pPr algn="ctr">
              <a:spcAft>
                <a:spcPts val="0"/>
              </a:spcAft>
              <a:defRPr sz="1300" b="1">
                <a:solidFill>
                  <a:srgbClr val="FFFFFF"/>
                </a:solidFill>
                <a:latin typeface="Microsoft YaHei"/>
              </a:defRPr>
            </a:pPr>
            <a:r>
              <a:rPr dirty="0"/>
              <a:t>B. </a:t>
            </a:r>
            <a:r>
              <a:rPr dirty="0" err="1"/>
              <a:t>FxDebateRequest</a:t>
            </a:r>
            <a:endParaRPr lang="en-US" dirty="0"/>
          </a:p>
          <a:p>
            <a:pPr algn="ctr">
              <a:spcAft>
                <a:spcPts val="0"/>
              </a:spcAft>
              <a:defRPr sz="1300" b="1">
                <a:solidFill>
                  <a:srgbClr val="FFFFFF"/>
                </a:solidFill>
                <a:latin typeface="Microsoft YaHei"/>
              </a:defRPr>
            </a:pPr>
            <a:r>
              <a:rPr dirty="0"/>
              <a:t>（LLM </a:t>
            </a:r>
            <a:r>
              <a:rPr dirty="0" err="1"/>
              <a:t>候选</a:t>
            </a:r>
            <a:r>
              <a:rPr dirty="0"/>
              <a:t>）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633472" y="1325880"/>
            <a:ext cx="2761488" cy="2971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8C4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73152" rIns="73152" bIns="73152" rtlCol="0" anchor="t"/>
          <a:lstStyle/>
          <a:p>
            <a:pPr algn="l">
              <a:spcAft>
                <a:spcPts val="0"/>
              </a:spcAft>
              <a:defRPr sz="900" b="0">
                <a:solidFill>
                  <a:srgbClr val="14213D"/>
                </a:solidFill>
                <a:latin typeface="Consolas"/>
              </a:defRPr>
            </a:pPr>
            <a:r>
              <a:rPr sz="1000" dirty="0"/>
              <a:t>{</a:t>
            </a:r>
            <a:br>
              <a:rPr sz="1000" dirty="0"/>
            </a:br>
            <a:r>
              <a:rPr sz="1000" dirty="0"/>
              <a:t>  "prompt": "</a:t>
            </a:r>
            <a:r>
              <a:rPr sz="1000" dirty="0" err="1"/>
              <a:t>分析欧元兑美元未来两周</a:t>
            </a:r>
            <a:r>
              <a:rPr sz="1000" dirty="0"/>
              <a:t>…",</a:t>
            </a:r>
            <a:br>
              <a:rPr sz="1000" dirty="0"/>
            </a:br>
            <a:r>
              <a:rPr sz="1000" dirty="0"/>
              <a:t>  "</a:t>
            </a:r>
            <a:r>
              <a:rPr sz="1000" dirty="0" err="1"/>
              <a:t>preset_name</a:t>
            </a:r>
            <a:r>
              <a:rPr sz="1000" dirty="0"/>
              <a:t>":</a:t>
            </a:r>
            <a:r>
              <a:rPr lang="zh-CN" altLang="en-US" sz="1000" dirty="0"/>
              <a:t> </a:t>
            </a:r>
            <a:r>
              <a:rPr sz="1000" dirty="0"/>
              <a:t>"</a:t>
            </a:r>
            <a:r>
              <a:rPr sz="1000" dirty="0" err="1"/>
              <a:t>fx_pair_debate_desk</a:t>
            </a:r>
            <a:r>
              <a:rPr sz="1000" dirty="0"/>
              <a:t>",</a:t>
            </a:r>
            <a:br>
              <a:rPr sz="1000" dirty="0"/>
            </a:br>
            <a:r>
              <a:rPr sz="1000" dirty="0"/>
              <a:t>  "</a:t>
            </a:r>
            <a:r>
              <a:rPr sz="1000" dirty="0" err="1"/>
              <a:t>canonical_symbol</a:t>
            </a:r>
            <a:r>
              <a:rPr sz="1000" dirty="0"/>
              <a:t>": "EURUSD",</a:t>
            </a:r>
            <a:br>
              <a:rPr sz="1000" dirty="0"/>
            </a:br>
            <a:r>
              <a:rPr sz="1000" dirty="0"/>
              <a:t>  "</a:t>
            </a:r>
            <a:r>
              <a:rPr sz="1000" dirty="0" err="1"/>
              <a:t>requested_base_currency</a:t>
            </a:r>
            <a:r>
              <a:rPr sz="1000" dirty="0"/>
              <a:t>": "EUR",</a:t>
            </a:r>
            <a:br>
              <a:rPr sz="1000" dirty="0"/>
            </a:br>
            <a:r>
              <a:rPr sz="1000" dirty="0"/>
              <a:t>  "</a:t>
            </a:r>
            <a:r>
              <a:rPr sz="1000" dirty="0" err="1"/>
              <a:t>requested_quote_currency</a:t>
            </a:r>
            <a:r>
              <a:rPr sz="1000" dirty="0"/>
              <a:t>": "USD",</a:t>
            </a:r>
            <a:br>
              <a:rPr sz="1000" dirty="0"/>
            </a:br>
            <a:r>
              <a:rPr sz="1000" dirty="0"/>
              <a:t>  "horizon": "2 weeks",</a:t>
            </a:r>
            <a:r>
              <a:rPr lang="en-US" sz="1000" dirty="0"/>
              <a:t> </a:t>
            </a:r>
          </a:p>
          <a:p>
            <a:pPr algn="l">
              <a:spcAft>
                <a:spcPts val="0"/>
              </a:spcAft>
              <a:defRPr sz="900" b="0">
                <a:solidFill>
                  <a:srgbClr val="14213D"/>
                </a:solidFill>
                <a:latin typeface="Consolas"/>
              </a:defRPr>
            </a:pPr>
            <a:r>
              <a:rPr lang="en-US" sz="1000" dirty="0"/>
              <a:t>#</a:t>
            </a:r>
            <a:r>
              <a:rPr lang="zh-CN" altLang="en-US" sz="1000" dirty="0"/>
              <a:t>日期字段</a:t>
            </a:r>
            <a:br>
              <a:rPr sz="1000" dirty="0"/>
            </a:br>
            <a:r>
              <a:rPr sz="1000" dirty="0"/>
              <a:t>  "timeframe": "4H/1D",</a:t>
            </a:r>
            <a:br>
              <a:rPr sz="1000" dirty="0"/>
            </a:br>
            <a:r>
              <a:rPr sz="1000" dirty="0"/>
              <a:t>  "intent": "</a:t>
            </a:r>
            <a:r>
              <a:rPr sz="1000" dirty="0" err="1"/>
              <a:t>directional_analysis</a:t>
            </a:r>
            <a:r>
              <a:rPr sz="1000" dirty="0"/>
              <a:t>",</a:t>
            </a:r>
            <a:br>
              <a:rPr sz="1000" dirty="0"/>
            </a:br>
            <a:r>
              <a:rPr sz="1000" dirty="0"/>
              <a:t>  "</a:t>
            </a:r>
            <a:r>
              <a:rPr sz="1000" dirty="0" err="1"/>
              <a:t>parse_confidence</a:t>
            </a:r>
            <a:r>
              <a:rPr sz="1000" dirty="0"/>
              <a:t>": 0.98</a:t>
            </a:r>
            <a:br>
              <a:rPr sz="1000" dirty="0"/>
            </a:br>
            <a:r>
              <a:rPr sz="1000" dirty="0"/>
              <a:t>}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633472" y="4407408"/>
            <a:ext cx="2761488" cy="658368"/>
          </a:xfrm>
          <a:prstGeom prst="roundRect">
            <a:avLst/>
          </a:prstGeom>
          <a:solidFill>
            <a:srgbClr val="FDEDEC"/>
          </a:solidFill>
          <a:ln w="12700">
            <a:solidFill>
              <a:srgbClr val="B326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73152" rIns="73152" bIns="73152" rtlCol="0" anchor="ctr"/>
          <a:lstStyle/>
          <a:p>
            <a:pPr algn="ctr">
              <a:spcAft>
                <a:spcPts val="0"/>
              </a:spcAft>
              <a:defRPr sz="1000" b="1">
                <a:solidFill>
                  <a:srgbClr val="B3261E"/>
                </a:solidFill>
                <a:latin typeface="Microsoft YaHei"/>
              </a:defRPr>
            </a:pPr>
            <a:r>
              <a:t>来源：主 Agent LLM</a:t>
            </a:r>
            <a:br/>
            <a:r>
              <a:t>性质：候选解析，不可直接执行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5468112" y="2240280"/>
            <a:ext cx="329184" cy="347472"/>
          </a:xfrm>
          <a:prstGeom prst="rightArrow">
            <a:avLst/>
          </a:prstGeom>
          <a:solidFill>
            <a:srgbClr val="0B2F5B"/>
          </a:solidFill>
          <a:ln>
            <a:solidFill>
              <a:srgbClr val="0B2F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5788153" y="822960"/>
            <a:ext cx="2816351" cy="420624"/>
          </a:xfrm>
          <a:prstGeom prst="roundRect">
            <a:avLst/>
          </a:prstGeom>
          <a:solidFill>
            <a:srgbClr val="0B2F5B"/>
          </a:solidFill>
          <a:ln w="12700">
            <a:solidFill>
              <a:srgbClr val="0B2F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73152" rIns="73152" bIns="73152" rtlCol="0" anchor="ctr"/>
          <a:lstStyle/>
          <a:p>
            <a:pPr algn="ctr">
              <a:spcAft>
                <a:spcPts val="0"/>
              </a:spcAft>
              <a:defRPr sz="1300" b="1">
                <a:solidFill>
                  <a:srgbClr val="FFFFFF"/>
                </a:solidFill>
                <a:latin typeface="Microsoft YaHei"/>
              </a:defRPr>
            </a:pPr>
            <a:r>
              <a:rPr dirty="0"/>
              <a:t>C. </a:t>
            </a:r>
            <a:r>
              <a:rPr dirty="0" err="1"/>
              <a:t>ResolvedFxDebateRequest</a:t>
            </a:r>
            <a:endParaRPr lang="en-US" dirty="0"/>
          </a:p>
          <a:p>
            <a:pPr algn="ctr">
              <a:spcAft>
                <a:spcPts val="0"/>
              </a:spcAft>
              <a:defRPr sz="1300" b="1">
                <a:solidFill>
                  <a:srgbClr val="FFFFFF"/>
                </a:solidFill>
                <a:latin typeface="Microsoft YaHei"/>
              </a:defRPr>
            </a:pPr>
            <a:r>
              <a:rPr dirty="0"/>
              <a:t>（</a:t>
            </a:r>
            <a:r>
              <a:rPr dirty="0" err="1"/>
              <a:t>可信</a:t>
            </a:r>
            <a:r>
              <a:rPr dirty="0"/>
              <a:t>）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833872" y="1325880"/>
            <a:ext cx="2770632" cy="3703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73152" rIns="73152" bIns="73152" rtlCol="0" anchor="t"/>
          <a:lstStyle/>
          <a:p>
            <a:pPr algn="l">
              <a:spcAft>
                <a:spcPts val="0"/>
              </a:spcAft>
              <a:defRPr sz="860" b="0">
                <a:solidFill>
                  <a:srgbClr val="14213D"/>
                </a:solidFill>
                <a:latin typeface="Consolas"/>
              </a:defRPr>
            </a:pPr>
            <a:r>
              <a:rPr sz="1050" dirty="0"/>
              <a:t>{</a:t>
            </a:r>
            <a:br>
              <a:rPr sz="1050" dirty="0"/>
            </a:br>
            <a:r>
              <a:rPr sz="1050" dirty="0"/>
              <a:t>  "status": "resolved",</a:t>
            </a:r>
            <a:br>
              <a:rPr sz="1050" dirty="0"/>
            </a:br>
            <a:r>
              <a:rPr sz="1050" dirty="0"/>
              <a:t>  "</a:t>
            </a:r>
            <a:r>
              <a:rPr sz="1050" dirty="0" err="1"/>
              <a:t>asset_class</a:t>
            </a:r>
            <a:r>
              <a:rPr sz="1050" dirty="0"/>
              <a:t>": "</a:t>
            </a:r>
            <a:r>
              <a:rPr sz="1050" dirty="0" err="1"/>
              <a:t>fx</a:t>
            </a:r>
            <a:r>
              <a:rPr sz="1050" dirty="0"/>
              <a:t>",</a:t>
            </a:r>
            <a:br>
              <a:rPr sz="1050" dirty="0"/>
            </a:br>
            <a:r>
              <a:rPr sz="1050" dirty="0"/>
              <a:t>  "</a:t>
            </a:r>
            <a:r>
              <a:rPr sz="1050" dirty="0" err="1"/>
              <a:t>instrument_type</a:t>
            </a:r>
            <a:r>
              <a:rPr sz="1050" dirty="0"/>
              <a:t>": "spot",</a:t>
            </a:r>
            <a:br>
              <a:rPr sz="1050" dirty="0"/>
            </a:br>
            <a:r>
              <a:rPr sz="1050" dirty="0"/>
              <a:t>  "</a:t>
            </a:r>
            <a:r>
              <a:rPr sz="1050" dirty="0" err="1"/>
              <a:t>canonical_symbol</a:t>
            </a:r>
            <a:r>
              <a:rPr sz="1050" dirty="0"/>
              <a:t>": "EURUSD",</a:t>
            </a:r>
            <a:br>
              <a:rPr sz="1050" dirty="0"/>
            </a:br>
            <a:r>
              <a:rPr sz="1050" dirty="0"/>
              <a:t>  "</a:t>
            </a:r>
            <a:r>
              <a:rPr sz="1050" dirty="0" err="1"/>
              <a:t>display_symbol</a:t>
            </a:r>
            <a:r>
              <a:rPr sz="1050" dirty="0"/>
              <a:t>": "EUR/USD",</a:t>
            </a:r>
            <a:br>
              <a:rPr sz="1050" dirty="0"/>
            </a:br>
            <a:r>
              <a:rPr sz="1050" dirty="0"/>
              <a:t>  "</a:t>
            </a:r>
            <a:r>
              <a:rPr sz="1050" dirty="0" err="1"/>
              <a:t>base_currency</a:t>
            </a:r>
            <a:r>
              <a:rPr sz="1050" dirty="0"/>
              <a:t>": "EUR",</a:t>
            </a:r>
            <a:br>
              <a:rPr sz="1050" dirty="0"/>
            </a:br>
            <a:r>
              <a:rPr sz="1050" dirty="0"/>
              <a:t>  "</a:t>
            </a:r>
            <a:r>
              <a:rPr sz="1050" dirty="0" err="1"/>
              <a:t>quote_currency</a:t>
            </a:r>
            <a:r>
              <a:rPr sz="1050" dirty="0"/>
              <a:t>": "USD",</a:t>
            </a:r>
            <a:br>
              <a:rPr sz="1050" dirty="0"/>
            </a:br>
            <a:r>
              <a:rPr sz="1050" dirty="0"/>
              <a:t>  "</a:t>
            </a:r>
            <a:r>
              <a:rPr sz="1050" dirty="0" err="1"/>
              <a:t>requested_base_currency</a:t>
            </a:r>
            <a:r>
              <a:rPr sz="1050" dirty="0"/>
              <a:t>": "EUR",</a:t>
            </a:r>
            <a:br>
              <a:rPr sz="1050" dirty="0"/>
            </a:br>
            <a:r>
              <a:rPr sz="1050" dirty="0"/>
              <a:t>  "</a:t>
            </a:r>
            <a:r>
              <a:rPr sz="1050" dirty="0" err="1"/>
              <a:t>requested_quote_currency</a:t>
            </a:r>
            <a:r>
              <a:rPr sz="1050" dirty="0"/>
              <a:t>": "USD",</a:t>
            </a:r>
            <a:br>
              <a:rPr sz="1050" dirty="0"/>
            </a:br>
            <a:r>
              <a:rPr sz="1050" dirty="0"/>
              <a:t>  "inverted": false,</a:t>
            </a:r>
            <a:br>
              <a:rPr sz="1050" dirty="0"/>
            </a:br>
            <a:r>
              <a:rPr sz="1050" dirty="0"/>
              <a:t>  "</a:t>
            </a:r>
            <a:r>
              <a:rPr sz="1050" dirty="0" err="1"/>
              <a:t>pair_class</a:t>
            </a:r>
            <a:r>
              <a:rPr sz="1050" dirty="0"/>
              <a:t>": "major",</a:t>
            </a:r>
            <a:br>
              <a:rPr sz="1050" dirty="0"/>
            </a:br>
            <a:r>
              <a:rPr sz="1050" dirty="0"/>
              <a:t>  "horizon": "2 weeks",</a:t>
            </a:r>
            <a:br>
              <a:rPr sz="1050" dirty="0"/>
            </a:br>
            <a:r>
              <a:rPr sz="1050" dirty="0"/>
              <a:t>  "timeframe": "4H/1D"</a:t>
            </a:r>
            <a:br>
              <a:rPr sz="1050" dirty="0"/>
            </a:br>
            <a:r>
              <a:rPr sz="1050" dirty="0"/>
              <a:t>}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833872" y="5138928"/>
            <a:ext cx="2770632" cy="658368"/>
          </a:xfrm>
          <a:prstGeom prst="roundRect">
            <a:avLst/>
          </a:prstGeom>
          <a:solidFill>
            <a:srgbClr val="EAF6EC"/>
          </a:solidFill>
          <a:ln w="1270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73152" rIns="73152" bIns="73152" rtlCol="0" anchor="ctr"/>
          <a:lstStyle/>
          <a:p>
            <a:pPr algn="ctr">
              <a:spcAft>
                <a:spcPts val="0"/>
              </a:spcAft>
              <a:defRPr sz="980" b="1">
                <a:solidFill>
                  <a:srgbClr val="2E7D32"/>
                </a:solidFill>
                <a:latin typeface="Microsoft YaHei"/>
              </a:defRPr>
            </a:pPr>
            <a:r>
              <a:t>来源：白名单 + 确定性代码</a:t>
            </a:r>
            <a:br/>
            <a:r>
              <a:t>性质：校验、补全后可构造 Swarm variables</a:t>
            </a:r>
          </a:p>
        </p:txBody>
      </p:sp>
      <p:sp>
        <p:nvSpPr>
          <p:cNvPr id="14" name="Right Arrow 13"/>
          <p:cNvSpPr/>
          <p:nvPr/>
        </p:nvSpPr>
        <p:spPr>
          <a:xfrm>
            <a:off x="8686800" y="2240280"/>
            <a:ext cx="329184" cy="347472"/>
          </a:xfrm>
          <a:prstGeom prst="rightArrow">
            <a:avLst/>
          </a:prstGeom>
          <a:solidFill>
            <a:srgbClr val="0B2F5B"/>
          </a:solidFill>
          <a:ln>
            <a:solidFill>
              <a:srgbClr val="0B2F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8997697" y="822960"/>
            <a:ext cx="2843783" cy="420624"/>
          </a:xfrm>
          <a:prstGeom prst="roundRect">
            <a:avLst/>
          </a:prstGeom>
          <a:solidFill>
            <a:srgbClr val="0B2F5B"/>
          </a:solidFill>
          <a:ln w="12700">
            <a:solidFill>
              <a:srgbClr val="0B2F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73152" rIns="73152" bIns="73152" rtlCol="0" anchor="ctr"/>
          <a:lstStyle/>
          <a:p>
            <a:pPr algn="ctr">
              <a:spcAft>
                <a:spcPts val="0"/>
              </a:spcAft>
              <a:defRPr sz="1300" b="1">
                <a:solidFill>
                  <a:srgbClr val="FFFFFF"/>
                </a:solidFill>
                <a:latin typeface="Microsoft YaHei"/>
              </a:defRPr>
            </a:pPr>
            <a:r>
              <a:t>D. SDK / Symbol Resolver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052560" y="1325880"/>
            <a:ext cx="2788920" cy="1325880"/>
          </a:xfrm>
          <a:prstGeom prst="roundRect">
            <a:avLst/>
          </a:prstGeom>
          <a:solidFill>
            <a:srgbClr val="EAF6EC"/>
          </a:solidFill>
          <a:ln w="1270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73152" rIns="73152" bIns="73152" rtlCol="0" anchor="t"/>
          <a:lstStyle/>
          <a:p>
            <a:pPr algn="l">
              <a:spcAft>
                <a:spcPts val="0"/>
              </a:spcAft>
              <a:defRPr sz="950" b="0">
                <a:solidFill>
                  <a:srgbClr val="14213D"/>
                </a:solidFill>
                <a:latin typeface="Consolas"/>
              </a:defRPr>
            </a:pPr>
            <a:r>
              <a:rPr sz="1100" dirty="0" err="1"/>
              <a:t>输入</a:t>
            </a:r>
            <a:br>
              <a:rPr sz="1100" dirty="0"/>
            </a:br>
            <a:r>
              <a:rPr sz="1100" dirty="0" err="1"/>
              <a:t>asset_class</a:t>
            </a:r>
            <a:r>
              <a:rPr sz="1100" dirty="0"/>
              <a:t> = </a:t>
            </a:r>
            <a:r>
              <a:rPr sz="1100" dirty="0" err="1"/>
              <a:t>fx</a:t>
            </a:r>
            <a:br>
              <a:rPr sz="1100" dirty="0"/>
            </a:br>
            <a:r>
              <a:rPr sz="1100" dirty="0" err="1"/>
              <a:t>instrument_type</a:t>
            </a:r>
            <a:r>
              <a:rPr sz="1100" dirty="0"/>
              <a:t> = spot</a:t>
            </a:r>
            <a:br>
              <a:rPr sz="1100" dirty="0"/>
            </a:br>
            <a:r>
              <a:rPr sz="1100" dirty="0" err="1"/>
              <a:t>canonical_symbol</a:t>
            </a:r>
            <a:r>
              <a:rPr sz="1100" dirty="0"/>
              <a:t> = EURUSD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052560" y="2834640"/>
            <a:ext cx="2788920" cy="2194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73152" rIns="73152" bIns="73152" rtlCol="0" anchor="t"/>
          <a:lstStyle/>
          <a:p>
            <a:pPr algn="l">
              <a:spcAft>
                <a:spcPts val="0"/>
              </a:spcAft>
              <a:defRPr sz="910" b="0">
                <a:solidFill>
                  <a:srgbClr val="14213D"/>
                </a:solidFill>
                <a:latin typeface="Consolas"/>
              </a:defRPr>
            </a:pPr>
            <a:r>
              <a:rPr sz="1100" dirty="0" err="1"/>
              <a:t>期望返回</a:t>
            </a:r>
            <a:br>
              <a:rPr sz="1100" dirty="0"/>
            </a:br>
            <a:r>
              <a:rPr sz="1100" dirty="0" err="1"/>
              <a:t>instrument_id</a:t>
            </a:r>
            <a:r>
              <a:rPr sz="1100" dirty="0"/>
              <a:t> = FX:EUR/USD:SPOT</a:t>
            </a:r>
            <a:br>
              <a:rPr sz="1100" dirty="0"/>
            </a:br>
            <a:r>
              <a:rPr sz="1100" dirty="0" err="1"/>
              <a:t>display_symbol</a:t>
            </a:r>
            <a:r>
              <a:rPr sz="1100" dirty="0"/>
              <a:t> = EUR/USD</a:t>
            </a:r>
            <a:br>
              <a:rPr sz="1100" dirty="0"/>
            </a:br>
            <a:r>
              <a:rPr sz="1100" dirty="0"/>
              <a:t>base / quote = EUR / USD</a:t>
            </a:r>
            <a:br>
              <a:rPr sz="1100" dirty="0"/>
            </a:br>
            <a:r>
              <a:rPr sz="1100" dirty="0" err="1"/>
              <a:t>provider_symbols</a:t>
            </a:r>
            <a:r>
              <a:rPr sz="1100" dirty="0"/>
              <a:t>:</a:t>
            </a:r>
            <a:br>
              <a:rPr sz="1100" dirty="0"/>
            </a:br>
            <a:r>
              <a:rPr sz="1100" dirty="0"/>
              <a:t>  </a:t>
            </a:r>
            <a:r>
              <a:rPr sz="1100" dirty="0" err="1"/>
              <a:t>yfinance</a:t>
            </a:r>
            <a:r>
              <a:rPr sz="1100" dirty="0"/>
              <a:t> = EURUSD=X</a:t>
            </a:r>
            <a:br>
              <a:rPr sz="1100" dirty="0"/>
            </a:br>
            <a:r>
              <a:rPr sz="1100" dirty="0"/>
              <a:t>  </a:t>
            </a:r>
            <a:r>
              <a:rPr sz="1100" dirty="0" err="1"/>
              <a:t>oanda</a:t>
            </a:r>
            <a:r>
              <a:rPr sz="1100" dirty="0"/>
              <a:t> = EUR_USD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052560" y="5138928"/>
            <a:ext cx="2788920" cy="658368"/>
          </a:xfrm>
          <a:prstGeom prst="roundRect">
            <a:avLst/>
          </a:prstGeom>
          <a:solidFill>
            <a:srgbClr val="EAF3FF"/>
          </a:solidFill>
          <a:ln w="12700">
            <a:solidFill>
              <a:srgbClr val="1F5B9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73152" rIns="73152" bIns="73152" rtlCol="0" anchor="ctr"/>
          <a:lstStyle/>
          <a:p>
            <a:pPr algn="ctr">
              <a:spcAft>
                <a:spcPts val="0"/>
              </a:spcAft>
              <a:defRPr sz="1000" b="1">
                <a:solidFill>
                  <a:srgbClr val="0B2F5B"/>
                </a:solidFill>
                <a:latin typeface="Microsoft YaHei"/>
              </a:defRPr>
            </a:pPr>
            <a:r>
              <a:rPr dirty="0" err="1"/>
              <a:t>职责边界：只提交</a:t>
            </a:r>
            <a:r>
              <a:rPr dirty="0"/>
              <a:t> canonical </a:t>
            </a:r>
            <a:r>
              <a:rPr dirty="0" err="1"/>
              <a:t>标的</a:t>
            </a:r>
            <a:r>
              <a:rPr dirty="0"/>
              <a:t>；</a:t>
            </a:r>
            <a:br>
              <a:rPr dirty="0"/>
            </a:br>
            <a:r>
              <a:rPr dirty="0"/>
              <a:t>provider </a:t>
            </a:r>
            <a:r>
              <a:rPr dirty="0" err="1"/>
              <a:t>映射由</a:t>
            </a:r>
            <a:r>
              <a:rPr dirty="0"/>
              <a:t> SDK </a:t>
            </a:r>
            <a:r>
              <a:rPr dirty="0" err="1"/>
              <a:t>负责</a:t>
            </a:r>
            <a:r>
              <a:rPr dirty="0"/>
              <a:t>。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20040" y="5234940"/>
            <a:ext cx="5074920" cy="960120"/>
          </a:xfrm>
          <a:prstGeom prst="roundRect">
            <a:avLst/>
          </a:prstGeom>
          <a:solidFill>
            <a:srgbClr val="FDEDEC"/>
          </a:solidFill>
          <a:ln w="12700">
            <a:solidFill>
              <a:srgbClr val="B326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9728" tIns="91440" rIns="109728" bIns="73152" rtlCol="0" anchor="t"/>
          <a:lstStyle/>
          <a:p>
            <a:pPr algn="ctr">
              <a:lnSpc>
                <a:spcPct val="100000"/>
              </a:lnSpc>
              <a:spcAft>
                <a:spcPts val="200"/>
              </a:spcAft>
              <a:defRPr sz="1100" b="1">
                <a:solidFill>
                  <a:srgbClr val="B3261E"/>
                </a:solidFill>
                <a:latin typeface="Microsoft YaHei"/>
              </a:defRPr>
            </a:pPr>
            <a:r>
              <a:t>启动门槛</a:t>
            </a:r>
          </a:p>
          <a:p>
            <a:pPr>
              <a:lnSpc>
                <a:spcPct val="100000"/>
              </a:lnSpc>
              <a:spcAft>
                <a:spcPts val="200"/>
              </a:spcAft>
              <a:defRPr sz="950" b="0">
                <a:solidFill>
                  <a:srgbClr val="14213D"/>
                </a:solidFill>
                <a:latin typeface="Microsoft YaHei"/>
              </a:defRPr>
            </a:pPr>
            <a:r>
              <a:t>canonical 不在允许清单、多个货币对、CNY/CNH 歧义或 parse_confidence 低于阈值时，不启动 Swarm。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20040" y="6382512"/>
            <a:ext cx="11521440" cy="292608"/>
          </a:xfrm>
          <a:prstGeom prst="roundRect">
            <a:avLst/>
          </a:prstGeom>
          <a:solidFill>
            <a:srgbClr val="EAF3FF"/>
          </a:solidFill>
          <a:ln w="12700">
            <a:solidFill>
              <a:srgbClr val="1F5B9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9728" tIns="91440" rIns="109728" bIns="73152" rtlCol="0" anchor="t"/>
          <a:lstStyle/>
          <a:p>
            <a:pPr algn="ctr">
              <a:lnSpc>
                <a:spcPct val="100000"/>
              </a:lnSpc>
              <a:spcAft>
                <a:spcPts val="200"/>
              </a:spcAft>
              <a:defRPr sz="1100" b="1">
                <a:solidFill>
                  <a:srgbClr val="0B2F5B"/>
                </a:solidFill>
                <a:latin typeface="Microsoft YaHei"/>
              </a:defRPr>
            </a:pPr>
            <a:r>
              <a:t>核心原则：LLM 负责理解；SwarmTool 负责确认；SDK 负责转换。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5760" y="164592"/>
            <a:ext cx="11430000" cy="384048"/>
          </a:xfrm>
          <a:prstGeom prst="rect">
            <a:avLst/>
          </a:prstGeom>
          <a:noFill/>
        </p:spPr>
        <p:txBody>
          <a:bodyPr wrap="none" lIns="73152" tIns="73152" rIns="73152" bIns="73152" anchor="ctr">
            <a:spAutoFit/>
          </a:bodyPr>
          <a:lstStyle/>
          <a:p>
            <a:pPr algn="ctr">
              <a:spcAft>
                <a:spcPts val="0"/>
              </a:spcAft>
              <a:defRPr sz="2500" b="1">
                <a:solidFill>
                  <a:srgbClr val="0B2F5B"/>
                </a:solidFill>
                <a:latin typeface="Microsoft YaHei"/>
              </a:defRPr>
            </a:pPr>
            <a:r>
              <a:t>FX Pair Debate：5-Agent DAG 与最终裁决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64240" cy="256032"/>
          </a:xfrm>
          <a:prstGeom prst="rect">
            <a:avLst/>
          </a:prstGeom>
          <a:noFill/>
        </p:spPr>
        <p:txBody>
          <a:bodyPr wrap="none" lIns="73152" tIns="73152" rIns="73152" bIns="73152" anchor="ctr">
            <a:spAutoFit/>
          </a:bodyPr>
          <a:lstStyle/>
          <a:p>
            <a:pPr algn="ctr">
              <a:spcAft>
                <a:spcPts val="0"/>
              </a:spcAft>
              <a:defRPr sz="1150" b="0">
                <a:solidFill>
                  <a:srgbClr val="5B6573"/>
                </a:solidFill>
                <a:latin typeface="Microsoft YaHei"/>
              </a:defRPr>
            </a:pPr>
            <a:r>
              <a:t>观点对抗 → 独立风险闸门 → 单一责任主体作最终决策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74320" y="909828"/>
            <a:ext cx="2103120" cy="1207008"/>
          </a:xfrm>
          <a:prstGeom prst="roundRect">
            <a:avLst/>
          </a:prstGeom>
          <a:solidFill>
            <a:srgbClr val="EAF3FF"/>
          </a:solidFill>
          <a:ln w="12700">
            <a:solidFill>
              <a:srgbClr val="1F5B9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9728" tIns="91440" rIns="109728" bIns="73152" rtlCol="0" anchor="t"/>
          <a:lstStyle/>
          <a:p>
            <a:pPr algn="ctr">
              <a:lnSpc>
                <a:spcPct val="100000"/>
              </a:lnSpc>
              <a:spcAft>
                <a:spcPts val="200"/>
              </a:spcAft>
              <a:defRPr sz="1120" b="1">
                <a:solidFill>
                  <a:srgbClr val="1F5B9D"/>
                </a:solidFill>
                <a:latin typeface="Microsoft YaHei"/>
              </a:defRPr>
            </a:pPr>
            <a:r>
              <a:rPr dirty="0"/>
              <a:t>1. Pair Bull Analyst</a:t>
            </a:r>
          </a:p>
          <a:p>
            <a:pPr>
              <a:lnSpc>
                <a:spcPct val="100000"/>
              </a:lnSpc>
              <a:spcAft>
                <a:spcPts val="200"/>
              </a:spcAft>
              <a:defRPr sz="930" b="1">
                <a:solidFill>
                  <a:srgbClr val="14213D"/>
                </a:solidFill>
                <a:latin typeface="Microsoft YaHei"/>
              </a:defRPr>
            </a:pPr>
            <a:r>
              <a:rPr dirty="0" err="1"/>
              <a:t>做多基础货币</a:t>
            </a:r>
            <a:r>
              <a:rPr dirty="0"/>
              <a:t> / </a:t>
            </a:r>
            <a:r>
              <a:rPr dirty="0" err="1"/>
              <a:t>做空计价货币</a:t>
            </a:r>
            <a:endParaRPr dirty="0"/>
          </a:p>
          <a:p>
            <a:pPr>
              <a:lnSpc>
                <a:spcPct val="100000"/>
              </a:lnSpc>
              <a:spcAft>
                <a:spcPts val="200"/>
              </a:spcAft>
              <a:defRPr sz="880" b="0">
                <a:solidFill>
                  <a:srgbClr val="14213D"/>
                </a:solidFill>
                <a:latin typeface="Microsoft YaHei"/>
              </a:defRPr>
            </a:pPr>
            <a:r>
              <a:rPr dirty="0"/>
              <a:t>3–5 </a:t>
            </a:r>
            <a:r>
              <a:rPr dirty="0" err="1"/>
              <a:t>个论点、催化剂、目标、失效条件、证据可信度</a:t>
            </a:r>
            <a:endParaRPr dirty="0"/>
          </a:p>
        </p:txBody>
      </p:sp>
      <p:sp>
        <p:nvSpPr>
          <p:cNvPr id="5" name="Rounded Rectangle 4"/>
          <p:cNvSpPr/>
          <p:nvPr/>
        </p:nvSpPr>
        <p:spPr>
          <a:xfrm>
            <a:off x="2542032" y="909828"/>
            <a:ext cx="2103120" cy="1207008"/>
          </a:xfrm>
          <a:prstGeom prst="roundRect">
            <a:avLst/>
          </a:prstGeom>
          <a:solidFill>
            <a:srgbClr val="FDEDEC"/>
          </a:solidFill>
          <a:ln w="12700">
            <a:solidFill>
              <a:srgbClr val="B326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9728" tIns="91440" rIns="109728" bIns="73152" rtlCol="0" anchor="t"/>
          <a:lstStyle/>
          <a:p>
            <a:pPr algn="ctr">
              <a:lnSpc>
                <a:spcPct val="100000"/>
              </a:lnSpc>
              <a:spcAft>
                <a:spcPts val="200"/>
              </a:spcAft>
              <a:defRPr sz="1120" b="1">
                <a:solidFill>
                  <a:srgbClr val="B3261E"/>
                </a:solidFill>
                <a:latin typeface="Microsoft YaHei"/>
              </a:defRPr>
            </a:pPr>
            <a:r>
              <a:t>2. Pair Bear Analyst</a:t>
            </a:r>
          </a:p>
          <a:p>
            <a:pPr>
              <a:lnSpc>
                <a:spcPct val="100000"/>
              </a:lnSpc>
              <a:spcAft>
                <a:spcPts val="200"/>
              </a:spcAft>
              <a:defRPr sz="930" b="1">
                <a:solidFill>
                  <a:srgbClr val="14213D"/>
                </a:solidFill>
                <a:latin typeface="Microsoft YaHei"/>
              </a:defRPr>
            </a:pPr>
            <a:r>
              <a:t>做空基础货币 / 做多计价货币</a:t>
            </a:r>
          </a:p>
          <a:p>
            <a:pPr>
              <a:lnSpc>
                <a:spcPct val="100000"/>
              </a:lnSpc>
              <a:spcAft>
                <a:spcPts val="200"/>
              </a:spcAft>
              <a:defRPr sz="880" b="0">
                <a:solidFill>
                  <a:srgbClr val="14213D"/>
                </a:solidFill>
                <a:latin typeface="Microsoft YaHei"/>
              </a:defRPr>
            </a:pPr>
            <a:r>
              <a:t>3–5 个风险、下行目标、反证、空头失效条件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809744" y="909828"/>
            <a:ext cx="2637130" cy="1207008"/>
          </a:xfrm>
          <a:prstGeom prst="roundRect">
            <a:avLst/>
          </a:prstGeom>
          <a:solidFill>
            <a:srgbClr val="FFF4E1"/>
          </a:solidFill>
          <a:ln w="12700">
            <a:solidFill>
              <a:srgbClr val="C77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9728" tIns="91440" rIns="109728" bIns="73152" rtlCol="0" anchor="t"/>
          <a:lstStyle/>
          <a:p>
            <a:pPr algn="ctr">
              <a:lnSpc>
                <a:spcPct val="100000"/>
              </a:lnSpc>
              <a:spcAft>
                <a:spcPts val="200"/>
              </a:spcAft>
              <a:defRPr sz="1120" b="1">
                <a:solidFill>
                  <a:srgbClr val="C77800"/>
                </a:solidFill>
                <a:latin typeface="Microsoft YaHei"/>
              </a:defRPr>
            </a:pPr>
            <a:r>
              <a:t>3. Relative Macro &amp; Technical</a:t>
            </a:r>
          </a:p>
          <a:p>
            <a:pPr>
              <a:lnSpc>
                <a:spcPct val="100000"/>
              </a:lnSpc>
              <a:spcAft>
                <a:spcPts val="200"/>
              </a:spcAft>
              <a:defRPr sz="930" b="1">
                <a:solidFill>
                  <a:srgbClr val="14213D"/>
                </a:solidFill>
                <a:latin typeface="Microsoft YaHei"/>
              </a:defRPr>
            </a:pPr>
            <a:r>
              <a:t>不预设方向，建立相对基准</a:t>
            </a:r>
          </a:p>
          <a:p>
            <a:pPr>
              <a:lnSpc>
                <a:spcPct val="100000"/>
              </a:lnSpc>
              <a:spcAft>
                <a:spcPts val="200"/>
              </a:spcAft>
              <a:defRPr sz="880" b="0">
                <a:solidFill>
                  <a:srgbClr val="14213D"/>
                </a:solidFill>
                <a:latin typeface="Microsoft YaHei"/>
              </a:defRPr>
            </a:pPr>
            <a:r>
              <a:t>央行、利率、增长、通胀、仓位、趋势、支撑阻力、事件日历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1325880" y="2135124"/>
            <a:ext cx="3474720" cy="621792"/>
          </a:xfrm>
          <a:prstGeom prst="line">
            <a:avLst/>
          </a:prstGeom>
          <a:ln w="19050">
            <a:solidFill>
              <a:srgbClr val="0B2F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3593592" y="2135124"/>
            <a:ext cx="1207008" cy="621792"/>
          </a:xfrm>
          <a:prstGeom prst="line">
            <a:avLst/>
          </a:prstGeom>
          <a:ln w="19050">
            <a:solidFill>
              <a:srgbClr val="0B2F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 flipH="1">
            <a:off x="4800600" y="2135124"/>
            <a:ext cx="1170432" cy="621792"/>
          </a:xfrm>
          <a:prstGeom prst="line">
            <a:avLst/>
          </a:prstGeom>
          <a:ln w="19050">
            <a:solidFill>
              <a:srgbClr val="0B2F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3474720" y="2784348"/>
            <a:ext cx="2468880" cy="1225296"/>
          </a:xfrm>
          <a:prstGeom prst="roundRect">
            <a:avLst/>
          </a:prstGeom>
          <a:solidFill>
            <a:srgbClr val="F1EEFF"/>
          </a:solidFill>
          <a:ln w="12700">
            <a:solidFill>
              <a:srgbClr val="5E35B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9728" tIns="91440" rIns="109728" bIns="73152" rtlCol="0" anchor="t"/>
          <a:lstStyle/>
          <a:p>
            <a:pPr algn="ctr">
              <a:lnSpc>
                <a:spcPct val="100000"/>
              </a:lnSpc>
              <a:spcAft>
                <a:spcPts val="200"/>
              </a:spcAft>
              <a:defRPr sz="1120" b="1">
                <a:solidFill>
                  <a:srgbClr val="5E35B1"/>
                </a:solidFill>
                <a:latin typeface="Microsoft YaHei"/>
              </a:defRPr>
            </a:pPr>
            <a:r>
              <a:rPr dirty="0"/>
              <a:t>4. Independent FX Risk Officer</a:t>
            </a:r>
          </a:p>
          <a:p>
            <a:pPr>
              <a:lnSpc>
                <a:spcPct val="100000"/>
              </a:lnSpc>
              <a:spcAft>
                <a:spcPts val="200"/>
              </a:spcAft>
              <a:defRPr sz="890" b="0">
                <a:solidFill>
                  <a:srgbClr val="14213D"/>
                </a:solidFill>
                <a:latin typeface="Microsoft YaHei"/>
              </a:defRPr>
            </a:pPr>
            <a:r>
              <a:rPr dirty="0" err="1"/>
              <a:t>不站队；等待并读取前三份报告</a:t>
            </a:r>
            <a:endParaRPr dirty="0"/>
          </a:p>
          <a:p>
            <a:pPr>
              <a:lnSpc>
                <a:spcPct val="100000"/>
              </a:lnSpc>
              <a:spcAft>
                <a:spcPts val="200"/>
              </a:spcAft>
              <a:defRPr sz="890" b="0">
                <a:solidFill>
                  <a:srgbClr val="14213D"/>
                </a:solidFill>
                <a:latin typeface="Microsoft YaHei"/>
              </a:defRPr>
            </a:pPr>
            <a:r>
              <a:rPr dirty="0" err="1"/>
              <a:t>证据质量、盲点、事件</a:t>
            </a:r>
            <a:r>
              <a:rPr dirty="0"/>
              <a:t>/</a:t>
            </a:r>
            <a:r>
              <a:rPr dirty="0" err="1"/>
              <a:t>流动性</a:t>
            </a:r>
            <a:r>
              <a:rPr dirty="0"/>
              <a:t>/</a:t>
            </a:r>
            <a:r>
              <a:rPr dirty="0" err="1"/>
              <a:t>尾部风险、仓位上限、止损与批准条件</a:t>
            </a:r>
            <a:endParaRPr dirty="0"/>
          </a:p>
        </p:txBody>
      </p:sp>
      <p:cxnSp>
        <p:nvCxnSpPr>
          <p:cNvPr id="11" name="Connector 10"/>
          <p:cNvCxnSpPr/>
          <p:nvPr/>
        </p:nvCxnSpPr>
        <p:spPr>
          <a:xfrm>
            <a:off x="5971032" y="3396996"/>
            <a:ext cx="1316736" cy="0"/>
          </a:xfrm>
          <a:prstGeom prst="line">
            <a:avLst/>
          </a:prstGeom>
          <a:ln w="22860">
            <a:solidFill>
              <a:srgbClr val="0B2F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7333488" y="2784348"/>
            <a:ext cx="2468880" cy="1225296"/>
          </a:xfrm>
          <a:prstGeom prst="roundRect">
            <a:avLst/>
          </a:prstGeom>
          <a:solidFill>
            <a:srgbClr val="E7F7F8"/>
          </a:solidFill>
          <a:ln w="12700">
            <a:solidFill>
              <a:srgbClr val="007C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9728" tIns="91440" rIns="109728" bIns="73152" rtlCol="0" anchor="t"/>
          <a:lstStyle/>
          <a:p>
            <a:pPr algn="ctr">
              <a:lnSpc>
                <a:spcPct val="100000"/>
              </a:lnSpc>
              <a:spcAft>
                <a:spcPts val="200"/>
              </a:spcAft>
              <a:defRPr sz="1120" b="1">
                <a:solidFill>
                  <a:srgbClr val="007C83"/>
                </a:solidFill>
                <a:latin typeface="Microsoft YaHei"/>
              </a:defRPr>
            </a:pPr>
            <a:r>
              <a:t>5. Debate Judge / FX PM</a:t>
            </a:r>
          </a:p>
          <a:p>
            <a:pPr>
              <a:lnSpc>
                <a:spcPct val="100000"/>
              </a:lnSpc>
              <a:spcAft>
                <a:spcPts val="200"/>
              </a:spcAft>
              <a:defRPr sz="890" b="0">
                <a:solidFill>
                  <a:srgbClr val="14213D"/>
                </a:solidFill>
                <a:latin typeface="Microsoft YaHei"/>
              </a:defRPr>
            </a:pPr>
            <a:r>
              <a:t>读取原始三份报告 + Risk 报告</a:t>
            </a:r>
          </a:p>
          <a:p>
            <a:pPr>
              <a:lnSpc>
                <a:spcPct val="100000"/>
              </a:lnSpc>
              <a:spcAft>
                <a:spcPts val="200"/>
              </a:spcAft>
              <a:defRPr sz="890" b="0">
                <a:solidFill>
                  <a:srgbClr val="14213D"/>
                </a:solidFill>
                <a:latin typeface="Microsoft YaHei"/>
              </a:defRPr>
            </a:pPr>
            <a:r>
              <a:t>long / short / wait / hedge；仓位、entry、target、stop、confidence、review trigger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9939528" y="3204972"/>
            <a:ext cx="347472" cy="365760"/>
          </a:xfrm>
          <a:prstGeom prst="rightArrow">
            <a:avLst/>
          </a:prstGeom>
          <a:solidFill>
            <a:srgbClr val="0B2F5B"/>
          </a:solidFill>
          <a:ln>
            <a:solidFill>
              <a:srgbClr val="0B2F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10378440" y="2224278"/>
            <a:ext cx="1750162" cy="2103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F5B9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9728" tIns="91440" rIns="109728" bIns="73152" rtlCol="0" anchor="t"/>
          <a:lstStyle/>
          <a:p>
            <a:pPr algn="ctr">
              <a:lnSpc>
                <a:spcPct val="100000"/>
              </a:lnSpc>
              <a:spcAft>
                <a:spcPts val="200"/>
              </a:spcAft>
              <a:defRPr sz="1200" b="1">
                <a:solidFill>
                  <a:srgbClr val="0B2F5B"/>
                </a:solidFill>
                <a:latin typeface="Microsoft YaHei"/>
              </a:defRPr>
            </a:pPr>
            <a:r>
              <a:t>最终报告</a:t>
            </a:r>
          </a:p>
          <a:p>
            <a:pPr>
              <a:lnSpc>
                <a:spcPct val="100000"/>
              </a:lnSpc>
              <a:spcAft>
                <a:spcPts val="200"/>
              </a:spcAft>
              <a:defRPr sz="900" b="0">
                <a:solidFill>
                  <a:srgbClr val="14213D"/>
                </a:solidFill>
                <a:latin typeface="Microsoft YaHei"/>
              </a:defRPr>
            </a:pPr>
            <a:r>
              <a:t>decision</a:t>
            </a:r>
          </a:p>
          <a:p>
            <a:pPr>
              <a:lnSpc>
                <a:spcPct val="100000"/>
              </a:lnSpc>
              <a:spcAft>
                <a:spcPts val="200"/>
              </a:spcAft>
              <a:defRPr sz="900" b="0">
                <a:solidFill>
                  <a:srgbClr val="14213D"/>
                </a:solidFill>
                <a:latin typeface="Microsoft YaHei"/>
              </a:defRPr>
            </a:pPr>
            <a:r>
              <a:t>confidence</a:t>
            </a:r>
          </a:p>
          <a:p>
            <a:pPr>
              <a:lnSpc>
                <a:spcPct val="100000"/>
              </a:lnSpc>
              <a:spcAft>
                <a:spcPts val="200"/>
              </a:spcAft>
              <a:defRPr sz="900" b="0">
                <a:solidFill>
                  <a:srgbClr val="14213D"/>
                </a:solidFill>
                <a:latin typeface="Microsoft YaHei"/>
              </a:defRPr>
            </a:pPr>
            <a:r>
              <a:t>entry / target / stop</a:t>
            </a:r>
          </a:p>
          <a:p>
            <a:pPr>
              <a:lnSpc>
                <a:spcPct val="100000"/>
              </a:lnSpc>
              <a:spcAft>
                <a:spcPts val="200"/>
              </a:spcAft>
              <a:defRPr sz="900" b="0">
                <a:solidFill>
                  <a:srgbClr val="14213D"/>
                </a:solidFill>
                <a:latin typeface="Microsoft YaHei"/>
              </a:defRPr>
            </a:pPr>
            <a:r>
              <a:t>invalidation</a:t>
            </a:r>
          </a:p>
          <a:p>
            <a:pPr>
              <a:lnSpc>
                <a:spcPct val="100000"/>
              </a:lnSpc>
              <a:spcAft>
                <a:spcPts val="200"/>
              </a:spcAft>
              <a:defRPr sz="900" b="0">
                <a:solidFill>
                  <a:srgbClr val="14213D"/>
                </a:solidFill>
                <a:latin typeface="Microsoft YaHei"/>
              </a:defRPr>
            </a:pPr>
            <a:r>
              <a:t>evidence_as_of</a:t>
            </a:r>
          </a:p>
          <a:p>
            <a:pPr>
              <a:lnSpc>
                <a:spcPct val="100000"/>
              </a:lnSpc>
              <a:spcAft>
                <a:spcPts val="200"/>
              </a:spcAft>
              <a:defRPr sz="900" b="0">
                <a:solidFill>
                  <a:srgbClr val="14213D"/>
                </a:solidFill>
                <a:latin typeface="Microsoft YaHei"/>
              </a:defRPr>
            </a:pPr>
            <a:r>
              <a:t>missing_data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83464" y="4407408"/>
            <a:ext cx="5660136" cy="420624"/>
          </a:xfrm>
          <a:prstGeom prst="roundRect">
            <a:avLst/>
          </a:prstGeom>
          <a:solidFill>
            <a:srgbClr val="0B2F5B"/>
          </a:solidFill>
          <a:ln w="12700">
            <a:solidFill>
              <a:srgbClr val="0B2F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73152" rIns="73152" bIns="73152" rtlCol="0" anchor="ctr"/>
          <a:lstStyle/>
          <a:p>
            <a:pPr algn="ctr">
              <a:spcAft>
                <a:spcPts val="0"/>
              </a:spcAft>
              <a:defRPr sz="1300" b="1">
                <a:solidFill>
                  <a:srgbClr val="FFFFFF"/>
                </a:solidFill>
                <a:latin typeface="Microsoft YaHei"/>
              </a:defRPr>
            </a:pPr>
            <a:r>
              <a:t>DAG 配置（YAML）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283464" y="4754880"/>
            <a:ext cx="5660136" cy="2103120"/>
          </a:xfrm>
          <a:prstGeom prst="roundRect">
            <a:avLst/>
          </a:prstGeom>
          <a:solidFill>
            <a:srgbClr val="F2F4F7"/>
          </a:solidFill>
          <a:ln w="12700">
            <a:solidFill>
              <a:srgbClr val="B8C4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73152" rIns="73152" bIns="73152" rtlCol="0" anchor="t"/>
          <a:lstStyle/>
          <a:p>
            <a:pPr algn="l">
              <a:spcAft>
                <a:spcPts val="0"/>
              </a:spcAft>
              <a:defRPr sz="850" b="0">
                <a:solidFill>
                  <a:srgbClr val="14213D"/>
                </a:solidFill>
                <a:latin typeface="Consolas"/>
              </a:defRPr>
            </a:pPr>
            <a:r>
              <a:rPr dirty="0"/>
              <a:t>task-risk:</a:t>
            </a:r>
            <a:br>
              <a:rPr dirty="0"/>
            </a:br>
            <a:r>
              <a:rPr dirty="0"/>
              <a:t>  </a:t>
            </a:r>
            <a:r>
              <a:rPr dirty="0" err="1"/>
              <a:t>depends_on</a:t>
            </a:r>
            <a:r>
              <a:rPr dirty="0"/>
              <a:t>: [task-bull, task-bear, task-macro-technical]</a:t>
            </a:r>
            <a:br>
              <a:rPr dirty="0"/>
            </a:br>
            <a:r>
              <a:rPr dirty="0"/>
              <a:t>  </a:t>
            </a:r>
            <a:r>
              <a:rPr dirty="0" err="1"/>
              <a:t>input_from</a:t>
            </a:r>
            <a:r>
              <a:rPr dirty="0"/>
              <a:t>:</a:t>
            </a:r>
            <a:br>
              <a:rPr dirty="0"/>
            </a:br>
            <a:r>
              <a:rPr dirty="0"/>
              <a:t>    </a:t>
            </a:r>
            <a:r>
              <a:rPr dirty="0" err="1"/>
              <a:t>bull_report</a:t>
            </a:r>
            <a:r>
              <a:rPr dirty="0"/>
              <a:t>: task-bull</a:t>
            </a:r>
            <a:br>
              <a:rPr dirty="0"/>
            </a:br>
            <a:r>
              <a:rPr dirty="0"/>
              <a:t>    </a:t>
            </a:r>
            <a:r>
              <a:rPr dirty="0" err="1"/>
              <a:t>bear_report</a:t>
            </a:r>
            <a:r>
              <a:rPr dirty="0"/>
              <a:t>: task-bear</a:t>
            </a:r>
            <a:br>
              <a:rPr dirty="0"/>
            </a:br>
            <a:r>
              <a:rPr dirty="0"/>
              <a:t>    </a:t>
            </a:r>
            <a:r>
              <a:rPr dirty="0" err="1"/>
              <a:t>macro_technical_report</a:t>
            </a:r>
            <a:r>
              <a:rPr dirty="0"/>
              <a:t>: task-macro-technical</a:t>
            </a:r>
            <a:br>
              <a:rPr dirty="0"/>
            </a:br>
            <a:br>
              <a:rPr dirty="0"/>
            </a:br>
            <a:r>
              <a:rPr dirty="0"/>
              <a:t>task-decision:</a:t>
            </a:r>
            <a:br>
              <a:rPr dirty="0"/>
            </a:br>
            <a:r>
              <a:rPr dirty="0"/>
              <a:t>  </a:t>
            </a:r>
            <a:r>
              <a:rPr dirty="0" err="1"/>
              <a:t>depends_on</a:t>
            </a:r>
            <a:r>
              <a:rPr dirty="0"/>
              <a:t>: [task-risk]</a:t>
            </a:r>
            <a:br>
              <a:rPr dirty="0"/>
            </a:br>
            <a:r>
              <a:rPr dirty="0"/>
              <a:t>  </a:t>
            </a:r>
            <a:r>
              <a:rPr dirty="0" err="1"/>
              <a:t>input_from</a:t>
            </a:r>
            <a:r>
              <a:rPr dirty="0"/>
              <a:t>:</a:t>
            </a:r>
            <a:br>
              <a:rPr dirty="0"/>
            </a:br>
            <a:r>
              <a:rPr dirty="0"/>
              <a:t>    </a:t>
            </a:r>
            <a:r>
              <a:rPr dirty="0" err="1"/>
              <a:t>bull_report</a:t>
            </a:r>
            <a:r>
              <a:rPr dirty="0"/>
              <a:t>: task-bull</a:t>
            </a:r>
            <a:br>
              <a:rPr dirty="0"/>
            </a:br>
            <a:r>
              <a:rPr dirty="0"/>
              <a:t>    </a:t>
            </a:r>
            <a:r>
              <a:rPr dirty="0" err="1"/>
              <a:t>bear_report</a:t>
            </a:r>
            <a:r>
              <a:rPr dirty="0"/>
              <a:t>: task-bear</a:t>
            </a:r>
            <a:br>
              <a:rPr dirty="0"/>
            </a:br>
            <a:r>
              <a:rPr dirty="0"/>
              <a:t>    </a:t>
            </a:r>
            <a:r>
              <a:rPr dirty="0" err="1"/>
              <a:t>macro_technical_report</a:t>
            </a:r>
            <a:r>
              <a:rPr dirty="0"/>
              <a:t>: task-macro-technical</a:t>
            </a:r>
            <a:br>
              <a:rPr dirty="0"/>
            </a:br>
            <a:r>
              <a:rPr dirty="0"/>
              <a:t>    </a:t>
            </a:r>
            <a:r>
              <a:rPr dirty="0" err="1"/>
              <a:t>risk_report</a:t>
            </a:r>
            <a:r>
              <a:rPr dirty="0"/>
              <a:t>: task-risk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080759" y="4407408"/>
            <a:ext cx="5743373" cy="420624"/>
          </a:xfrm>
          <a:prstGeom prst="roundRect">
            <a:avLst/>
          </a:prstGeom>
          <a:solidFill>
            <a:srgbClr val="0B2F5B"/>
          </a:solidFill>
          <a:ln w="12700">
            <a:solidFill>
              <a:srgbClr val="0B2F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73152" rIns="73152" bIns="73152" rtlCol="0" anchor="ctr"/>
          <a:lstStyle/>
          <a:p>
            <a:pPr algn="ctr">
              <a:spcAft>
                <a:spcPts val="0"/>
              </a:spcAft>
              <a:defRPr sz="1300" b="1">
                <a:solidFill>
                  <a:srgbClr val="FFFFFF"/>
                </a:solidFill>
                <a:latin typeface="Microsoft YaHei"/>
              </a:defRPr>
            </a:pPr>
            <a:r>
              <a:t>设计原则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080759" y="4754880"/>
            <a:ext cx="5743373" cy="2103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F5B9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9728" tIns="91440" rIns="109728" bIns="73152" rtlCol="0" anchor="t"/>
          <a:lstStyle/>
          <a:p>
            <a:pPr>
              <a:lnSpc>
                <a:spcPct val="100000"/>
              </a:lnSpc>
              <a:spcAft>
                <a:spcPts val="200"/>
              </a:spcAft>
              <a:defRPr sz="1030" b="1">
                <a:solidFill>
                  <a:srgbClr val="1F5B9D"/>
                </a:solidFill>
                <a:latin typeface="Microsoft YaHei"/>
              </a:defRPr>
            </a:pPr>
            <a:r>
              <a:rPr dirty="0"/>
              <a:t>① </a:t>
            </a:r>
            <a:r>
              <a:rPr dirty="0" err="1"/>
              <a:t>观点对抗</a:t>
            </a:r>
            <a:endParaRPr dirty="0"/>
          </a:p>
          <a:p>
            <a:pPr>
              <a:lnSpc>
                <a:spcPct val="100000"/>
              </a:lnSpc>
              <a:spcAft>
                <a:spcPts val="200"/>
              </a:spcAft>
              <a:defRPr sz="880" b="0">
                <a:solidFill>
                  <a:srgbClr val="14213D"/>
                </a:solidFill>
                <a:latin typeface="Microsoft YaHei"/>
              </a:defRPr>
            </a:pPr>
            <a:r>
              <a:rPr dirty="0"/>
              <a:t>Bull 与 Bear </a:t>
            </a:r>
            <a:r>
              <a:rPr dirty="0" err="1"/>
              <a:t>独立产出相反方向的最强证据链</a:t>
            </a:r>
            <a:r>
              <a:rPr dirty="0"/>
              <a:t>。</a:t>
            </a:r>
            <a:endParaRPr lang="en-US" dirty="0"/>
          </a:p>
          <a:p>
            <a:pPr>
              <a:lnSpc>
                <a:spcPct val="100000"/>
              </a:lnSpc>
              <a:spcAft>
                <a:spcPts val="200"/>
              </a:spcAft>
              <a:defRPr sz="880" b="0">
                <a:solidFill>
                  <a:srgbClr val="14213D"/>
                </a:solidFill>
                <a:latin typeface="Microsoft YaHei"/>
              </a:defRPr>
            </a:pPr>
            <a:endParaRPr dirty="0"/>
          </a:p>
          <a:p>
            <a:pPr>
              <a:lnSpc>
                <a:spcPct val="100000"/>
              </a:lnSpc>
              <a:spcAft>
                <a:spcPts val="200"/>
              </a:spcAft>
              <a:defRPr sz="1030" b="1">
                <a:solidFill>
                  <a:srgbClr val="5E35B1"/>
                </a:solidFill>
                <a:latin typeface="Microsoft YaHei"/>
              </a:defRPr>
            </a:pPr>
            <a:r>
              <a:rPr dirty="0"/>
              <a:t>② </a:t>
            </a:r>
            <a:r>
              <a:rPr dirty="0" err="1"/>
              <a:t>风险独立</a:t>
            </a:r>
            <a:endParaRPr dirty="0"/>
          </a:p>
          <a:p>
            <a:pPr>
              <a:lnSpc>
                <a:spcPct val="100000"/>
              </a:lnSpc>
              <a:spcAft>
                <a:spcPts val="200"/>
              </a:spcAft>
              <a:defRPr sz="880" b="0">
                <a:solidFill>
                  <a:srgbClr val="14213D"/>
                </a:solidFill>
                <a:latin typeface="Microsoft YaHei"/>
              </a:defRPr>
            </a:pPr>
            <a:r>
              <a:rPr dirty="0"/>
              <a:t>Risk </a:t>
            </a:r>
            <a:r>
              <a:rPr dirty="0" err="1"/>
              <a:t>不参与建仓观点，只做证据与风险审查</a:t>
            </a:r>
            <a:r>
              <a:rPr dirty="0"/>
              <a:t>。</a:t>
            </a:r>
            <a:endParaRPr lang="en-US" dirty="0"/>
          </a:p>
          <a:p>
            <a:pPr>
              <a:lnSpc>
                <a:spcPct val="100000"/>
              </a:lnSpc>
              <a:spcAft>
                <a:spcPts val="200"/>
              </a:spcAft>
              <a:defRPr sz="880" b="0">
                <a:solidFill>
                  <a:srgbClr val="14213D"/>
                </a:solidFill>
                <a:latin typeface="Microsoft YaHei"/>
              </a:defRPr>
            </a:pPr>
            <a:endParaRPr dirty="0"/>
          </a:p>
          <a:p>
            <a:pPr>
              <a:lnSpc>
                <a:spcPct val="100000"/>
              </a:lnSpc>
              <a:spcAft>
                <a:spcPts val="200"/>
              </a:spcAft>
              <a:defRPr sz="1030" b="1">
                <a:solidFill>
                  <a:srgbClr val="007C83"/>
                </a:solidFill>
                <a:latin typeface="Microsoft YaHei"/>
              </a:defRPr>
            </a:pPr>
            <a:r>
              <a:rPr dirty="0"/>
              <a:t>③ </a:t>
            </a:r>
            <a:r>
              <a:rPr dirty="0" err="1"/>
              <a:t>最终责任明确</a:t>
            </a:r>
            <a:endParaRPr dirty="0"/>
          </a:p>
          <a:p>
            <a:pPr>
              <a:lnSpc>
                <a:spcPct val="100000"/>
              </a:lnSpc>
              <a:spcAft>
                <a:spcPts val="200"/>
              </a:spcAft>
              <a:defRPr sz="880" b="0">
                <a:solidFill>
                  <a:srgbClr val="14213D"/>
                </a:solidFill>
                <a:latin typeface="Microsoft YaHei"/>
              </a:defRPr>
            </a:pPr>
            <a:r>
              <a:rPr dirty="0"/>
              <a:t>Judge </a:t>
            </a:r>
            <a:r>
              <a:rPr dirty="0" err="1"/>
              <a:t>不按票数决策，而是对原始证据和风险条件加权</a:t>
            </a:r>
            <a:r>
              <a:rPr dirty="0"/>
              <a:t>。</a:t>
            </a:r>
            <a:endParaRPr lang="en-US" dirty="0"/>
          </a:p>
          <a:p>
            <a:pPr>
              <a:lnSpc>
                <a:spcPct val="100000"/>
              </a:lnSpc>
              <a:spcAft>
                <a:spcPts val="200"/>
              </a:spcAft>
              <a:defRPr sz="880" b="0">
                <a:solidFill>
                  <a:srgbClr val="14213D"/>
                </a:solidFill>
                <a:latin typeface="Microsoft YaHei"/>
              </a:defRPr>
            </a:pPr>
            <a:endParaRPr dirty="0"/>
          </a:p>
          <a:p>
            <a:pPr>
              <a:lnSpc>
                <a:spcPct val="100000"/>
              </a:lnSpc>
              <a:spcAft>
                <a:spcPts val="200"/>
              </a:spcAft>
              <a:defRPr sz="1030" b="1">
                <a:solidFill>
                  <a:srgbClr val="C77800"/>
                </a:solidFill>
                <a:latin typeface="Microsoft YaHei"/>
              </a:defRPr>
            </a:pPr>
            <a:r>
              <a:rPr dirty="0"/>
              <a:t>④ </a:t>
            </a:r>
            <a:r>
              <a:rPr dirty="0" err="1"/>
              <a:t>防止摘要丢失</a:t>
            </a:r>
            <a:endParaRPr dirty="0"/>
          </a:p>
          <a:p>
            <a:pPr>
              <a:lnSpc>
                <a:spcPct val="100000"/>
              </a:lnSpc>
              <a:spcAft>
                <a:spcPts val="200"/>
              </a:spcAft>
              <a:defRPr sz="880" b="0">
                <a:solidFill>
                  <a:srgbClr val="14213D"/>
                </a:solidFill>
                <a:latin typeface="Microsoft YaHei"/>
              </a:defRPr>
            </a:pPr>
            <a:r>
              <a:rPr dirty="0"/>
              <a:t>Judge </a:t>
            </a:r>
            <a:r>
              <a:rPr dirty="0" err="1"/>
              <a:t>直接读取原始三份报告和</a:t>
            </a:r>
            <a:r>
              <a:rPr dirty="0"/>
              <a:t> Risk </a:t>
            </a:r>
            <a:r>
              <a:rPr dirty="0" err="1"/>
              <a:t>报告</a:t>
            </a:r>
            <a:r>
              <a:rPr dirty="0"/>
              <a:t>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2299821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210</TotalTime>
  <Words>1028</Words>
  <Application>Microsoft Office PowerPoint</Application>
  <PresentationFormat>宽屏</PresentationFormat>
  <Paragraphs>120</Paragraphs>
  <Slides>4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4</vt:i4>
      </vt:variant>
    </vt:vector>
  </HeadingPairs>
  <TitlesOfParts>
    <vt:vector size="8" baseType="lpstr">
      <vt:lpstr>Microsoft YaHei</vt:lpstr>
      <vt:lpstr>Arial</vt:lpstr>
      <vt:lpstr>Calibri</vt:lpstr>
      <vt:lpstr>Office Theme</vt:lpstr>
      <vt:lpstr>PowerPoint 演示文稿</vt:lpstr>
      <vt:lpstr>PowerPoint 演示文稿</vt:lpstr>
      <vt:lpstr>PowerPoint 演示文稿</vt:lpstr>
      <vt:lpstr>PowerPoint 演示文稿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梁宇菁</dc:creator>
  <cp:keywords/>
  <dc:description>generated using python-pptx</dc:description>
  <cp:lastModifiedBy>A6600</cp:lastModifiedBy>
  <cp:revision>4</cp:revision>
  <dcterms:created xsi:type="dcterms:W3CDTF">2013-01-27T09:14:16Z</dcterms:created>
  <dcterms:modified xsi:type="dcterms:W3CDTF">2026-07-22T09:44:28Z</dcterms:modified>
  <cp:category/>
</cp:coreProperties>
</file>